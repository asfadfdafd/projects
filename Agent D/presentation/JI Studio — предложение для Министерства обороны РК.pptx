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8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600200" cy="4933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874519"/>
            <a:ext cx="10515600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00"/>
              </a:lnSpc>
            </a:pPr>
            <a:r>
              <a:rPr sz="4000" b="1" i="0">
                <a:solidFill>
                  <a:srgbClr val="FFFFFF"/>
                </a:solidFill>
                <a:latin typeface="Barlow Condensed"/>
              </a:rPr>
              <a:t>ИСКУССТВЕННЫЙ ИНТЕЛЛЕКТ</a:t>
            </a:r>
          </a:p>
          <a:p>
            <a:pPr algn="l">
              <a:lnSpc>
                <a:spcPts val="4600"/>
              </a:lnSpc>
            </a:pPr>
            <a:r>
              <a:rPr sz="4000" b="1" i="0">
                <a:solidFill>
                  <a:srgbClr val="FFFFFF"/>
                </a:solidFill>
                <a:latin typeface="Barlow Condensed"/>
              </a:rPr>
              <a:t>ДЛЯ ДОКУМЕНТОВ</a:t>
            </a:r>
          </a:p>
          <a:p>
            <a:pPr algn="l">
              <a:lnSpc>
                <a:spcPts val="4600"/>
              </a:lnSpc>
            </a:pPr>
            <a:r>
              <a:rPr sz="4000" b="1" i="0">
                <a:solidFill>
                  <a:srgbClr val="FFFFFF"/>
                </a:solidFill>
                <a:latin typeface="Barlow Condensed"/>
              </a:rPr>
              <a:t>И ПРАВОВОЙ РАБОТЫ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224528"/>
            <a:ext cx="3840480" cy="9525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498848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0" i="0">
                <a:solidFill>
                  <a:srgbClr val="B9C4D6"/>
                </a:solidFill>
                <a:latin typeface="Barlow"/>
              </a:rPr>
              <a:t>Две работающие системы и предложение по разработке</a:t>
            </a:r>
          </a:p>
          <a:p>
            <a:pPr algn="l">
              <a:lnSpc>
                <a:spcPts val="2400"/>
              </a:lnSpc>
            </a:pPr>
            <a:r>
              <a:rPr sz="1600" b="0" i="0">
                <a:solidFill>
                  <a:srgbClr val="B9C4D6"/>
                </a:solidFill>
                <a:latin typeface="Barlow"/>
              </a:rPr>
              <a:t>для Министерства обороны Республики Казахстан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120">
                <a:solidFill>
                  <a:srgbClr val="5980A6"/>
                </a:solidFill>
                <a:latin typeface="Barlow Condensed"/>
              </a:rPr>
              <a:t>JI STUDIO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5742432"/>
            <a:ext cx="28620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700"/>
              </a:lnSpc>
            </a:pPr>
            <a:r>
              <a:rPr sz="1200" b="0" i="0">
                <a:solidFill>
                  <a:srgbClr val="B9C4D6"/>
                </a:solidFill>
                <a:latin typeface="Barlow"/>
              </a:rPr>
              <a:t>Все системы работают</a:t>
            </a:r>
          </a:p>
          <a:p>
            <a:pPr algn="r">
              <a:lnSpc>
                <a:spcPts val="1700"/>
              </a:lnSpc>
            </a:pPr>
            <a:r>
              <a:rPr sz="1200" b="0" i="0">
                <a:solidFill>
                  <a:srgbClr val="B9C4D6"/>
                </a:solidFill>
                <a:latin typeface="Barlow"/>
              </a:rPr>
              <a:t>в закрытом контуре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МИНИСТЕРСТВО ОБОРОНЫ РК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02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89611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СОДЕРЖАНИЕ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О ЧЁМ ЭТОТ РАЗГОВОР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1500" b="0" i="0">
                <a:solidFill>
                  <a:srgbClr val="3C5C7A"/>
                </a:solidFill>
                <a:latin typeface="Barlow"/>
              </a:rPr>
              <a:t>Мы не приходим с презентацией возможностей. Мы приносим две системы, которые уже работают, и показываем, что из них применимо у вас.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63240"/>
            <a:ext cx="3465576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7" y="3364992"/>
            <a:ext cx="292608" cy="29260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822191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700" b="1" i="0">
                <a:solidFill>
                  <a:srgbClr val="101F20"/>
                </a:solidFill>
                <a:latin typeface="Barlow Condensed"/>
              </a:rPr>
              <a:t>ARCHIVAI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553712"/>
            <a:ext cx="2880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6B7072"/>
                </a:solidFill>
                <a:latin typeface="Barlow"/>
              </a:rPr>
              <a:t>Оцифровка и осмысленный поиск</a:t>
            </a:r>
          </a:p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6B7072"/>
                </a:solidFill>
                <a:latin typeface="Barlow"/>
              </a:rPr>
              <a:t>по документальному архиву.</a:t>
            </a:r>
          </a:p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6B7072"/>
                </a:solidFill>
                <a:latin typeface="Barlow"/>
              </a:rPr>
              <a:t>OCR рукописей и машинописи</a:t>
            </a:r>
          </a:p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6B7072"/>
                </a:solidFill>
                <a:latin typeface="Barlow"/>
              </a:rPr>
              <a:t>XX века, казахский и русский.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6824" y="3063240"/>
            <a:ext cx="3465576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99432" y="3364992"/>
            <a:ext cx="292608" cy="29260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3822191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700" b="1" i="0">
                <a:solidFill>
                  <a:srgbClr val="101F20"/>
                </a:solidFill>
                <a:latin typeface="Barlow Condensed"/>
              </a:rPr>
              <a:t>СУДЕБНЫЙ АССИСТЕНТ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4553712"/>
            <a:ext cx="2880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6B7072"/>
                </a:solidFill>
                <a:latin typeface="Barlow"/>
              </a:rPr>
              <a:t>Разбор материалов дела:</a:t>
            </a:r>
          </a:p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6B7072"/>
                </a:solidFill>
                <a:latin typeface="Barlow"/>
              </a:rPr>
              <a:t>оценка перспектив спора,</a:t>
            </a:r>
          </a:p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6B7072"/>
                </a:solidFill>
                <a:latin typeface="Barlow"/>
              </a:rPr>
              <a:t>структурный обзор и поиск</a:t>
            </a:r>
          </a:p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6B7072"/>
                </a:solidFill>
                <a:latin typeface="Barlow"/>
              </a:rPr>
              <a:t>расхождений в документах.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8" y="3063240"/>
            <a:ext cx="3465576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57616" y="3364992"/>
            <a:ext cx="292608" cy="29260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3822191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700" b="1" i="0">
                <a:solidFill>
                  <a:srgbClr val="101F20"/>
                </a:solidFill>
                <a:latin typeface="Barlow Condensed"/>
              </a:rPr>
              <a:t>ПРИМЕНЕНИЕ В МО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4553712"/>
            <a:ext cx="2880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6B7072"/>
                </a:solidFill>
                <a:latin typeface="Barlow"/>
              </a:rPr>
              <a:t>Четыре сценария, где эти же</a:t>
            </a:r>
          </a:p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6B7072"/>
                </a:solidFill>
                <a:latin typeface="Barlow"/>
              </a:rPr>
              <a:t>механизмы решают задачи</a:t>
            </a:r>
          </a:p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6B7072"/>
                </a:solidFill>
                <a:latin typeface="Barlow"/>
              </a:rPr>
              <a:t>ведомства, и предложение</a:t>
            </a:r>
          </a:p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6B7072"/>
                </a:solidFill>
                <a:latin typeface="Barlow"/>
              </a:rPr>
              <a:t>по составу первых работ.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МИНИСТЕРСТВО ОБОРОНЫ РК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274320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Свойство архитектуры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03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ПРИНЦИП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УСЛОВИЕ, С КОТОРОГО МЫ НАЧИНАЕМ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21408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1500" b="0" i="0">
                <a:solidFill>
                  <a:srgbClr val="3C5C7A"/>
                </a:solidFill>
                <a:latin typeface="Barlow"/>
              </a:rPr>
              <a:t>Обе системы спроектированы так, что данные физически не могут покинуть периметр. Это заложено в архитектуру, а не включается галочкой.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110916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209544"/>
            <a:ext cx="329184" cy="329184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316382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01F20"/>
                </a:solidFill>
                <a:latin typeface="Barlow"/>
              </a:rPr>
              <a:t>Модели работают локально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163824"/>
            <a:ext cx="6355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6B7072"/>
                </a:solidFill>
                <a:latin typeface="Barlow"/>
              </a:rPr>
              <a:t>Открытые модели на своём железе — Qwen2.5-VL, Tesseract, Surya. Ни одного обращения к платным API.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03904"/>
            <a:ext cx="11091672" cy="713232"/>
          </a:xfrm>
          <a:prstGeom prst="rect">
            <a:avLst/>
          </a:prstGeom>
          <a:solidFill>
            <a:srgbClr val="F2F2F3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995928"/>
            <a:ext cx="329184" cy="329184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3950208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01F20"/>
                </a:solidFill>
                <a:latin typeface="Barlow"/>
              </a:rPr>
              <a:t>Нет исходящих сетевых вызовов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950208"/>
            <a:ext cx="6355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6B7072"/>
                </a:solidFill>
                <a:latin typeface="Barlow"/>
              </a:rPr>
              <a:t>В судебном модуле их нет в коде вообще: интерфейс не подключает ни CDN, ни внешние шрифты.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90288"/>
            <a:ext cx="110916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782312"/>
            <a:ext cx="329184" cy="329184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4736592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01F20"/>
                </a:solidFill>
                <a:latin typeface="Barlow"/>
              </a:rPr>
              <a:t>Разворачивание без интернета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736592"/>
            <a:ext cx="6355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6B7072"/>
                </a:solidFill>
                <a:latin typeface="Barlow"/>
              </a:rPr>
              <a:t>Судебный модуль не требует ни одной внешней зависимости — только Python из поставки ОС.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76672"/>
            <a:ext cx="11091672" cy="713232"/>
          </a:xfrm>
          <a:prstGeom prst="rect">
            <a:avLst/>
          </a:prstGeom>
          <a:solidFill>
            <a:srgbClr val="F2F2F3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5568696"/>
            <a:ext cx="329184" cy="329184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5024" y="5522976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01F20"/>
                </a:solidFill>
                <a:latin typeface="Barlow"/>
              </a:rPr>
              <a:t>Данные не оседают на диске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522976"/>
            <a:ext cx="6355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6B7072"/>
                </a:solidFill>
                <a:latin typeface="Barlow"/>
              </a:rPr>
              <a:t>Тексты документов обрабатываются в памяти и не попадают в журналы.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8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51247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B9C4D6"/>
                </a:solidFill>
                <a:latin typeface="Barlow Condensed"/>
              </a:rPr>
              <a:t>JI STUDIO  —  МИНИСТЕРСТВО ОБОРОНЫ РК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B9C4D6"/>
                </a:solidFill>
                <a:latin typeface="Barlow Condensed"/>
              </a:rPr>
              <a:t>04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2A3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66928" cy="566928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Barlow Condense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00"/>
              </a:lnSpc>
            </a:pPr>
            <a:r>
              <a:rPr sz="4000" b="1" i="0">
                <a:solidFill>
                  <a:srgbClr val="FFFFFF"/>
                </a:solidFill>
                <a:latin typeface="Barlow Condensed"/>
              </a:rPr>
              <a:t>ARCHIVAI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60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B9C4D6"/>
                </a:solidFill>
                <a:latin typeface="Barlow"/>
              </a:rPr>
              <a:t>Документальный архив, в котором можно искать по смыслу, а не по номеру описи.</a:t>
            </a:r>
          </a:p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B9C4D6"/>
                </a:solidFill>
                <a:latin typeface="Barlow"/>
              </a:rPr>
              <a:t>Работающая система: реализованы фазы 0–5.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МИНИСТЕРСТВО ОБОРОНЫ РК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274320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Интерфейс системы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05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ARCHIVAI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ЧТО ДЕЛАЕТ ARCHIVAI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101F20"/>
                </a:solidFill>
                <a:latin typeface="Barlow"/>
              </a:rPr>
              <a:t>Загруженный скан или многостраничный PDF превращается в документ, с которым можно работать: распознанный текст, тип документа, отправитель и получатель, краткое содержание, извлечённые сущности и связи между ними.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1188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900"/>
              </a:lnSpc>
              <a:spcAft>
                <a:spcPts val="700"/>
              </a:spcAft>
            </a:pPr>
            <a:r>
              <a:rPr sz="1300">
                <a:solidFill>
                  <a:srgbClr val="5980A6"/>
                </a:solidFill>
                <a:latin typeface="Barlow"/>
              </a:rPr>
              <a:t>—  </a:t>
            </a:r>
            <a:r>
              <a:rPr sz="1300">
                <a:solidFill>
                  <a:srgbClr val="101F20"/>
                </a:solidFill>
                <a:latin typeface="Barlow"/>
              </a:rPr>
              <a:t>Смысловой поиск, а не поиск по точному слову</a:t>
            </a:r>
          </a:p>
          <a:p>
            <a:pPr>
              <a:lnSpc>
                <a:spcPts val="1900"/>
              </a:lnSpc>
              <a:spcAft>
                <a:spcPts val="700"/>
              </a:spcAft>
            </a:pPr>
            <a:r>
              <a:rPr sz="1300">
                <a:solidFill>
                  <a:srgbClr val="5980A6"/>
                </a:solidFill>
                <a:latin typeface="Barlow"/>
              </a:rPr>
              <a:t>—  </a:t>
            </a:r>
            <a:r>
              <a:rPr sz="1300">
                <a:solidFill>
                  <a:srgbClr val="101F20"/>
                </a:solidFill>
                <a:latin typeface="Barlow"/>
              </a:rPr>
              <a:t>Люди, организации, даты, места — размечены и связаны</a:t>
            </a:r>
          </a:p>
          <a:p>
            <a:pPr>
              <a:lnSpc>
                <a:spcPts val="1900"/>
              </a:lnSpc>
              <a:spcAft>
                <a:spcPts val="700"/>
              </a:spcAft>
            </a:pPr>
            <a:r>
              <a:rPr sz="1300">
                <a:solidFill>
                  <a:srgbClr val="5980A6"/>
                </a:solidFill>
                <a:latin typeface="Barlow"/>
              </a:rPr>
              <a:t>—  </a:t>
            </a:r>
            <a:r>
              <a:rPr sz="1300">
                <a:solidFill>
                  <a:srgbClr val="101F20"/>
                </a:solidFill>
                <a:latin typeface="Barlow"/>
              </a:rPr>
              <a:t>Проверка человеком встроена в процесс</a:t>
            </a:r>
          </a:p>
          <a:p>
            <a:pPr>
              <a:lnSpc>
                <a:spcPts val="1900"/>
              </a:lnSpc>
              <a:spcAft>
                <a:spcPts val="700"/>
              </a:spcAft>
            </a:pPr>
            <a:r>
              <a:rPr sz="1300">
                <a:solidFill>
                  <a:srgbClr val="5980A6"/>
                </a:solidFill>
                <a:latin typeface="Barlow"/>
              </a:rPr>
              <a:t>—  </a:t>
            </a:r>
            <a:r>
              <a:rPr sz="1300">
                <a:solidFill>
                  <a:srgbClr val="101F20"/>
                </a:solidFill>
                <a:latin typeface="Barlow"/>
              </a:rPr>
              <a:t>Ответы чата подкреплены ссылками на страницы</a:t>
            </a:r>
          </a:p>
        </p:txBody>
      </p:sp>
      <p:pic>
        <p:nvPicPr>
          <p:cNvPr id="12" name="Picture 11" descr="docu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148840"/>
            <a:ext cx="5650992" cy="179904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89320" y="4041648"/>
            <a:ext cx="5650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072"/>
                </a:solidFill>
                <a:latin typeface="Barlow"/>
              </a:rPr>
              <a:t>Реестр документов: тип, стороны, статус проверки</a:t>
            </a:r>
          </a:p>
        </p:txBody>
      </p:sp>
      <p:pic>
        <p:nvPicPr>
          <p:cNvPr id="14" name="Picture 13" descr="search_resul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4407408"/>
            <a:ext cx="5120640" cy="188846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54496" y="6382512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072"/>
                </a:solidFill>
                <a:latin typeface="Barlow"/>
              </a:rPr>
              <a:t>Смысловой поиск с фрагментами-обоснованиями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МИНИСТЕРСТВО ОБОРОНЫ РК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274320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Каждый этап заменяется отдельно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06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ARCHIVAI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КАК УСТРОЕН КОНВЕЙЕР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8412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1500" b="0" i="0">
                <a:solidFill>
                  <a:srgbClr val="3C5C7A"/>
                </a:solidFill>
                <a:latin typeface="Barlow"/>
              </a:rPr>
              <a:t>Обработка разбита на шаги, каждый из которых виден, перезапускается и заменяется независимо от остальных. Замена модели распознавания не требует переписывания системы.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08960"/>
            <a:ext cx="170078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3101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0F85"/>
                </a:solidFill>
                <a:latin typeface="Barlow Condensed"/>
              </a:rPr>
              <a:t>ПРИЁМ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39312"/>
            <a:ext cx="1417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Скан или PDF</a:t>
            </a:r>
          </a:p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постранично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76856" y="3639312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980A6"/>
                </a:solidFill>
                <a:latin typeface="Barlow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32304" y="3108960"/>
            <a:ext cx="170078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33101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0F85"/>
                </a:solidFill>
                <a:latin typeface="Barlow Condensed"/>
              </a:rPr>
              <a:t>ЧТЕНИЕ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3639312"/>
            <a:ext cx="1417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Vision-модель</a:t>
            </a:r>
          </a:p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или Tesseract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639312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980A6"/>
                </a:solidFill>
                <a:latin typeface="Barlow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5968" y="3108960"/>
            <a:ext cx="170078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59" y="33101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0F85"/>
                </a:solidFill>
                <a:latin typeface="Barlow Condensed"/>
              </a:rPr>
              <a:t>ИЗВЛЕЧЕНИЕ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3639312"/>
            <a:ext cx="1417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Тип, стороны,</a:t>
            </a:r>
          </a:p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сущности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44183" y="3639312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980A6"/>
                </a:solidFill>
                <a:latin typeface="Barlow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1" y="3108960"/>
            <a:ext cx="170078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3" y="33101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0F85"/>
                </a:solidFill>
                <a:latin typeface="Barlow Condensed"/>
              </a:rPr>
              <a:t>ХРАНЕНИЕ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3" y="3639312"/>
            <a:ext cx="1417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Postgres</a:t>
            </a:r>
          </a:p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+ pgvector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7848" y="3639312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980A6"/>
                </a:solidFill>
                <a:latin typeface="Barlow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83296" y="3108960"/>
            <a:ext cx="170078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33101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0F85"/>
                </a:solidFill>
                <a:latin typeface="Barlow Condensed"/>
              </a:rPr>
              <a:t>ПОИСК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3639312"/>
            <a:ext cx="1417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Смысловой</a:t>
            </a:r>
          </a:p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+ по словам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1512" y="3639312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980A6"/>
                </a:solidFill>
                <a:latin typeface="Barlow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66960" y="3108960"/>
            <a:ext cx="170078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31552" y="33101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0F85"/>
                </a:solidFill>
                <a:latin typeface="Barlow Condensed"/>
              </a:rPr>
              <a:t>СВЯЗИ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31552" y="3639312"/>
            <a:ext cx="1417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Граф сущностей</a:t>
            </a:r>
          </a:p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и выгрузка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709160"/>
            <a:ext cx="5440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49377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01F20"/>
                </a:solidFill>
                <a:latin typeface="Barlow Condensed"/>
              </a:rPr>
              <a:t>ЯДРО — ОРКЕСТРАТОР n8n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5285232"/>
            <a:ext cx="4892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6B7072"/>
                </a:solidFill>
                <a:latin typeface="Barlow"/>
              </a:rPr>
              <a:t>Каждый этап — отдельный процесс в n8n. Конвейер виден целиком, перезапускается по частям и расширяется без правки кода приложения.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9632" y="4709160"/>
            <a:ext cx="5440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9377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01F20"/>
                </a:solidFill>
                <a:latin typeface="Barlow Condensed"/>
              </a:rPr>
              <a:t>ЦИФРОВЫЕ PDF — БЕЗ РАСПОЗНАВАНИЯ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285232"/>
            <a:ext cx="4892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6B7072"/>
                </a:solidFill>
                <a:latin typeface="Barlow"/>
              </a:rPr>
              <a:t>Если у PDF есть текстовый слой, он используется напрямую: точный текст без обращения к модели. Распознавание включается только для сканов.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МИНИСТЕРСТВО ОБОРОНЫ РК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274320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Документ XX века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07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ARCHIVAI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ПОЧЕМУ ЭТО ТРУДНАЯ ЗАДАЧА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6035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101F20"/>
                </a:solidFill>
                <a:latin typeface="Barlow"/>
              </a:rPr>
              <a:t>Документы середины прошлого века — не сканы офисных бумаг. На одной странице встречаются кириллический русский, кириллический казахский и казахский на латинице до 1940 года, плюс рукописный текст, печати и выцветшая бумага.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20440"/>
            <a:ext cx="60350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66674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F20"/>
                </a:solidFill>
                <a:latin typeface="Barlow"/>
              </a:rPr>
              <a:t>Три системы письма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3639312"/>
            <a:ext cx="2880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Русская и казахская кириллица, латиница «Жаңалiп» — нередко в пределах одного дела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379976"/>
            <a:ext cx="60350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52628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F20"/>
                </a:solidFill>
                <a:latin typeface="Barlow"/>
              </a:rPr>
              <a:t>Рукописи и печати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4498848"/>
            <a:ext cx="2880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Классическое распознавание на них ломается; vision-модель читает страницу целиком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39512"/>
            <a:ext cx="60350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385816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F20"/>
                </a:solidFill>
                <a:latin typeface="Barlow"/>
              </a:rPr>
              <a:t>Запасной путь всегда есть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5358384"/>
            <a:ext cx="2880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Для машинописи и хостов без видеокарты — Tesseract и Surya как отдельная ветвь конвейера</a:t>
            </a:r>
          </a:p>
        </p:txBody>
      </p:sp>
      <p:pic>
        <p:nvPicPr>
          <p:cNvPr id="20" name="Picture 19" descr="scan_sour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2103120"/>
            <a:ext cx="2679558" cy="40233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995160" y="623620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072"/>
                </a:solidFill>
                <a:latin typeface="Barlow"/>
              </a:rPr>
              <a:t>Исходный скан до обработки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МИНИСТЕРСТВО ОБОРОНЫ РК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274320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Фазы 0–5 из дорожной карты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08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ARCHIVAI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ЧТО УЖЕ РЕАЛИЗОВАНО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82296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1500" b="0" i="0">
                <a:solidFill>
                  <a:srgbClr val="3C5C7A"/>
                </a:solidFill>
                <a:latin typeface="Barlow"/>
              </a:rPr>
              <a:t>Это не макет. Ниже — работающая функциональность; оставшиеся фазы (вход по учётным записям, коннекторы, распознавание подписей и печатей) описаны в дорожной карте.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63240"/>
            <a:ext cx="5449824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" y="3264408"/>
            <a:ext cx="274320" cy="274320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5" y="320954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F20"/>
                </a:solidFill>
                <a:latin typeface="Barlow"/>
              </a:rPr>
              <a:t>Конвейер и хранилище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5" y="3502152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Приём, распознавание, извлечение, векторные представления, статистика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3063240"/>
            <a:ext cx="5449824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28231" y="3264408"/>
            <a:ext cx="274320" cy="274320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7144" y="320954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F20"/>
                </a:solidFill>
                <a:latin typeface="Barlow"/>
              </a:rPr>
              <a:t>Интерфейс архивиста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7144" y="3502152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Загрузка, реестр, карточка документа, правка сущностей и подтверждение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23944"/>
            <a:ext cx="5449824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" y="4325112"/>
            <a:ext cx="274320" cy="274320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5" y="42702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F20"/>
                </a:solidFill>
                <a:latin typeface="Barlow"/>
              </a:rPr>
              <a:t>Поиск и панель показателей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5" y="4562856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Смысловой поиск по содержанию, сводка по фонду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4123944"/>
            <a:ext cx="5449824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28231" y="4325112"/>
            <a:ext cx="274320" cy="274320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7144" y="42702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F20"/>
                </a:solidFill>
                <a:latin typeface="Barlow"/>
              </a:rPr>
              <a:t>Чат по архиву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7144" y="4562856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Ответ строится только по документам фонда и сопровождается ссылками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184648"/>
            <a:ext cx="5449824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6384" y="5385816"/>
            <a:ext cx="274320" cy="274320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5295" y="53309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F20"/>
                </a:solidFill>
                <a:latin typeface="Barlow"/>
              </a:rPr>
              <a:t>Граф сущностей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5295" y="5623560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Сведение одинаковых людей и организаций, связи, выгрузка в CSV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5184648"/>
            <a:ext cx="5449824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28231" y="5385816"/>
            <a:ext cx="274320" cy="274320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67144" y="53309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F20"/>
                </a:solidFill>
                <a:latin typeface="Barlow"/>
              </a:rPr>
              <a:t>Настройка обычным языком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67144" y="5623560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Веса поиска, состав панели, справочник типов документов — правятся фразой, изменения журналируются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8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51247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B9C4D6"/>
                </a:solidFill>
                <a:latin typeface="Barlow Condensed"/>
              </a:rPr>
              <a:t>JI STUDIO  —  МИНИСТЕРСТВО ОБОРОНЫ РК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B9C4D6"/>
                </a:solidFill>
                <a:latin typeface="Barlow Condensed"/>
              </a:rPr>
              <a:t>09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2A3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66928" cy="566928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Barlow Condensed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00"/>
              </a:lnSpc>
            </a:pPr>
            <a:r>
              <a:rPr sz="4000" b="1" i="0">
                <a:solidFill>
                  <a:srgbClr val="FFFFFF"/>
                </a:solidFill>
                <a:latin typeface="Barlow Condensed"/>
              </a:rPr>
              <a:t>СУДЕБНЫЙ АССИСТЕНТ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60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B9C4D6"/>
                </a:solidFill>
                <a:latin typeface="Barlow"/>
              </a:rPr>
              <a:t>Разбор материалов дела: оценка перспектив спора и подготовка к заседанию.</a:t>
            </a:r>
          </a:p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B9C4D6"/>
                </a:solidFill>
                <a:latin typeface="Barlow"/>
              </a:rPr>
              <a:t>Прототип на демонстрационных данных, полностью офлайн.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МИНИСТЕРСТВО ОБОРОНЫ РК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10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89611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СУДЕБНЫЙ АССИСТЕНТ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ДВА МОДУЛЯ ДЛЯ РАЗНЫХ РОЛЕЙ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1500" b="0" i="0">
                <a:solidFill>
                  <a:srgbClr val="3C5C7A"/>
                </a:solidFill>
                <a:latin typeface="Barlow"/>
              </a:rPr>
              <a:t>Одна система, но разные ответы для разных пользователей — и разная мера ответственности за вывод.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5449824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3035808"/>
            <a:ext cx="292608" cy="29260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06324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F20"/>
                </a:solidFill>
                <a:latin typeface="Barlow Condensed"/>
              </a:rPr>
              <a:t>СТОРОНЕ СПОРА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493008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0F85"/>
                </a:solidFill>
                <a:latin typeface="Barlow"/>
              </a:rPr>
              <a:t>Оценка перспектив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931920"/>
            <a:ext cx="48463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 </a:t>
            </a:r>
            <a:r>
              <a:rPr sz="1200">
                <a:solidFill>
                  <a:srgbClr val="101F20"/>
                </a:solidFill>
                <a:latin typeface="Barlow"/>
              </a:rPr>
              <a:t>Вероятность удовлетворения требований</a:t>
            </a:r>
          </a:p>
          <a:p>
            <a:pPr>
              <a:lnSpc>
                <a:spcPts val="1700"/>
              </a:lnSpc>
              <a:spcAft>
                <a:spcPts val="6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 </a:t>
            </a:r>
            <a:r>
              <a:rPr sz="1200">
                <a:solidFill>
                  <a:srgbClr val="101F20"/>
                </a:solidFill>
                <a:latin typeface="Barlow"/>
              </a:rPr>
              <a:t>Ожидаемая сумма взыскания, а не только «да / нет»</a:t>
            </a:r>
          </a:p>
          <a:p>
            <a:pPr>
              <a:lnSpc>
                <a:spcPts val="1700"/>
              </a:lnSpc>
              <a:spcAft>
                <a:spcPts val="6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 </a:t>
            </a:r>
            <a:r>
              <a:rPr sz="1200">
                <a:solidFill>
                  <a:srgbClr val="101F20"/>
                </a:solidFill>
                <a:latin typeface="Barlow"/>
              </a:rPr>
              <a:t>Какие обстоятельства усилили и ослабили позицию</a:t>
            </a:r>
          </a:p>
          <a:p>
            <a:pPr>
              <a:lnSpc>
                <a:spcPts val="1700"/>
              </a:lnSpc>
              <a:spcAft>
                <a:spcPts val="6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 </a:t>
            </a:r>
            <a:r>
              <a:rPr sz="1200">
                <a:solidFill>
                  <a:srgbClr val="101F20"/>
                </a:solidFill>
                <a:latin typeface="Barlow"/>
              </a:rPr>
              <a:t>Что именно нужно донести, чтобы позиция окрепла</a:t>
            </a:r>
          </a:p>
          <a:p>
            <a:pPr>
              <a:lnSpc>
                <a:spcPts val="1700"/>
              </a:lnSpc>
              <a:spcAft>
                <a:spcPts val="6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 </a:t>
            </a:r>
            <a:r>
              <a:rPr sz="1200">
                <a:solidFill>
                  <a:srgbClr val="101F20"/>
                </a:solidFill>
                <a:latin typeface="Barlow"/>
              </a:rPr>
              <a:t>Похожие дела из базы с их исходами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2743200"/>
            <a:ext cx="5449824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83096" y="3035808"/>
            <a:ext cx="292608" cy="29260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8" y="30632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F20"/>
                </a:solidFill>
                <a:latin typeface="Barlow Condensed"/>
              </a:rPr>
              <a:t>СУДУ ИЛИ ЮРИДИЧЕСКОЙ СЛУЖБЕ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3493008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0F85"/>
                </a:solidFill>
                <a:latin typeface="Barlow"/>
              </a:rPr>
              <a:t>Разбор материалов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3931920"/>
            <a:ext cx="48463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 </a:t>
            </a:r>
            <a:r>
              <a:rPr sz="1200">
                <a:solidFill>
                  <a:srgbClr val="101F20"/>
                </a:solidFill>
                <a:latin typeface="Barlow"/>
              </a:rPr>
              <a:t>Обзор дела: стороны, требования, состав материалов</a:t>
            </a:r>
          </a:p>
          <a:p>
            <a:pPr>
              <a:lnSpc>
                <a:spcPts val="1700"/>
              </a:lnSpc>
              <a:spcAft>
                <a:spcPts val="6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 </a:t>
            </a:r>
            <a:r>
              <a:rPr sz="1200">
                <a:solidFill>
                  <a:srgbClr val="101F20"/>
                </a:solidFill>
                <a:latin typeface="Barlow"/>
              </a:rPr>
              <a:t>Хронология событий, собранная из всех документов</a:t>
            </a:r>
          </a:p>
          <a:p>
            <a:pPr>
              <a:lnSpc>
                <a:spcPts val="1700"/>
              </a:lnSpc>
              <a:spcAft>
                <a:spcPts val="6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 </a:t>
            </a:r>
            <a:r>
              <a:rPr sz="1200">
                <a:solidFill>
                  <a:srgbClr val="101F20"/>
                </a:solidFill>
                <a:latin typeface="Barlow"/>
              </a:rPr>
              <a:t>Расхождения между позициями сторон с цитатами</a:t>
            </a:r>
          </a:p>
          <a:p>
            <a:pPr>
              <a:lnSpc>
                <a:spcPts val="1700"/>
              </a:lnSpc>
              <a:spcAft>
                <a:spcPts val="6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 </a:t>
            </a:r>
            <a:r>
              <a:rPr sz="1200">
                <a:solidFill>
                  <a:srgbClr val="101F20"/>
                </a:solidFill>
                <a:latin typeface="Barlow"/>
              </a:rPr>
              <a:t>Спорные точки и слабые места каждой позиции</a:t>
            </a:r>
          </a:p>
          <a:p>
            <a:pPr>
              <a:lnSpc>
                <a:spcPts val="1700"/>
              </a:lnSpc>
              <a:spcAft>
                <a:spcPts val="6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 </a:t>
            </a:r>
            <a:r>
              <a:rPr sz="1200">
                <a:solidFill>
                  <a:srgbClr val="101F20"/>
                </a:solidFill>
                <a:latin typeface="Barlow"/>
              </a:rPr>
              <a:t>Перечень вопросов к заседанию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4476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 i="1">
                <a:solidFill>
                  <a:srgbClr val="6B7072"/>
                </a:solidFill>
                <a:latin typeface="Barlow"/>
              </a:rPr>
              <a:t>Вероятность исхода второму модулю намеренно не показывается: такая оценка перед заседанием влияла бы на внутреннее убеждение. Ограничение закреплено автоматическим тестом.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МИНИСТЕРСТВО ОБОРОНЫ РК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274320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Проверочная выборка — 800 дел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11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СУДЕБНЫЙ АССИСТЕНТ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ОТВЕТ НА ВОПРОС «ОТКУДА ЭТА ЦИФРА»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8412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1500" b="0" i="0">
                <a:solidFill>
                  <a:srgbClr val="3C5C7A"/>
                </a:solidFill>
                <a:latin typeface="Barlow"/>
              </a:rPr>
              <a:t>В правовой работе вывод, который нельзя проверить, бесполезен. Поэтому выбрана модель, где вклад каждого обстоятельства считается точно, а не приближается.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00F85"/>
                </a:solidFill>
                <a:latin typeface="Barlow Condensed"/>
              </a:rPr>
              <a:t>0,824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8444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F20"/>
                </a:solidFill>
                <a:latin typeface="Barlow"/>
              </a:rPr>
              <a:t>Качество ранжирования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13631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Градиентный бустинг дал 0,819 — выигрыша нет, объяснимость сохранена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017520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00F85"/>
                </a:solidFill>
                <a:latin typeface="Barlow Condensed"/>
              </a:rPr>
              <a:t>5,0 п.п.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58444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F20"/>
                </a:solidFill>
                <a:latin typeface="Barlow"/>
              </a:rPr>
              <a:t>Ширина диапазона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913631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Фактическое расхождение прогноза с частотой исходов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017520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00F85"/>
                </a:solidFill>
                <a:latin typeface="Barlow Condensed"/>
              </a:rPr>
              <a:t>0,97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58444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F20"/>
                </a:solidFill>
                <a:latin typeface="Barlow"/>
              </a:rPr>
              <a:t>Согласие с эталоном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913631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Модель восстановила заложенную структуру, а не шум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017520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00F85"/>
                </a:solidFill>
                <a:latin typeface="Barlow Condensed"/>
              </a:rPr>
              <a:t>83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358444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1F20"/>
                </a:solidFill>
                <a:latin typeface="Barlow"/>
              </a:rPr>
              <a:t>Сквозных проверки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913631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Прогоняются при каждом изменении системы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74920"/>
            <a:ext cx="1109167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285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01F20"/>
                </a:solidFill>
                <a:latin typeface="Barlow Condensed"/>
              </a:rPr>
              <a:t>ЧТО ЭТО ЗНАЧИТ НА ПРАКТИКЕ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5614416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6B7072"/>
                </a:solidFill>
                <a:latin typeface="Barlow"/>
              </a:rPr>
              <a:t>Рядом с каждым фактором стоит его вклад в процентных пунктах, а рядом с оценкой — подборка похожих дел с фактическими исходами. Доля выигранных среди них считается простым подсчётом: на демонстрационных делах она сходится с прогнозом модели (91 % против 93 %). Расхождение этих двух чисел было бы поводом модели не доверять.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МИНИСТЕРСТВО ОБОРОНЫ РК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274320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Демонстрационное дело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12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СУДЕБНЫЙ АССИСТЕНТ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СВЕРКА ДОКУМЕНТОВ МЕЖДУ СТОРОНАМИ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1500" b="0" i="0">
                <a:solidFill>
                  <a:srgbClr val="3C5C7A"/>
                </a:solidFill>
                <a:latin typeface="Barlow"/>
              </a:rPr>
              <a:t>Сопоставление того, что стороны говорят об одних и тех же обстоятельствах, — механическая работа, на которую уходит время при подготовке. Система делает её автоматически и показывает обе цитаты рядом, не решая, кто прав.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544982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218688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F20"/>
                </a:solidFill>
                <a:latin typeface="Barlow Condensed"/>
              </a:rPr>
              <a:t>РАСХОЖДЕНИЕ В СУММЕ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602736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072"/>
                </a:solidFill>
                <a:latin typeface="Barlow"/>
              </a:rPr>
              <a:t>Истец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822191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0F85"/>
                </a:solidFill>
                <a:latin typeface="Barlow Condensed"/>
              </a:rPr>
              <a:t>4 850 000 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602736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072"/>
                </a:solidFill>
                <a:latin typeface="Barlow"/>
              </a:rPr>
              <a:t>Ответчик признаёт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822191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C5C7A"/>
                </a:solidFill>
                <a:latin typeface="Barlow Condensed"/>
              </a:rPr>
              <a:t>3 100 000 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224528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072"/>
                </a:solidFill>
                <a:latin typeface="Barlow"/>
              </a:rPr>
              <a:t>Спор сведён к разнице в 1 750 000 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3017520"/>
            <a:ext cx="544982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3096" y="3218688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F20"/>
                </a:solidFill>
                <a:latin typeface="Barlow Condensed"/>
              </a:rPr>
              <a:t>ПРЯМОЕ ПРОТИВОРЕЧИЕ ПО ФАКТУ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356616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1">
                <a:solidFill>
                  <a:srgbClr val="101F20"/>
                </a:solidFill>
                <a:latin typeface="Barlow"/>
              </a:rPr>
              <a:t>«Приказ об увольнении мне не вручался,</a:t>
            </a:r>
          </a:p>
          <a:p>
            <a:pPr algn="l">
              <a:lnSpc>
                <a:spcPts val="1600"/>
              </a:lnSpc>
            </a:pPr>
            <a:r>
              <a:rPr sz="1200" b="0" i="1">
                <a:solidFill>
                  <a:srgbClr val="101F20"/>
                </a:solidFill>
                <a:latin typeface="Barlow"/>
              </a:rPr>
              <a:t>с ним я ознакомлен не был»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411480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1">
                <a:solidFill>
                  <a:srgbClr val="3C5C7A"/>
                </a:solidFill>
                <a:latin typeface="Barlow"/>
              </a:rPr>
              <a:t>«Приказ вручён истцу под роспись,</a:t>
            </a:r>
          </a:p>
          <a:p>
            <a:pPr algn="l">
              <a:lnSpc>
                <a:spcPts val="1600"/>
              </a:lnSpc>
            </a:pPr>
            <a:r>
              <a:rPr sz="1200" b="0" i="1">
                <a:solidFill>
                  <a:srgbClr val="3C5C7A"/>
                </a:solidFill>
                <a:latin typeface="Barlow"/>
              </a:rPr>
              <a:t>о чём имеется отметка в журнале»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892040"/>
            <a:ext cx="1109167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102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01F20"/>
                </a:solidFill>
                <a:latin typeface="Barlow Condensed"/>
              </a:rPr>
              <a:t>ПОЧЕМУ ЭТО РАБОТАЕТ БЕЗ ЯЗЫКОВОЙ МОДЕЛИ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5431536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6B7072"/>
                </a:solidFill>
                <a:latin typeface="Barlow"/>
              </a:rPr>
              <a:t>Суммы сопоставляются по предмету спора, а утверждения — с учётом отрицаний. Последнее принципиально: без него фраза «договор мне не выдавался» засчитывается как наличие договора. Ложное срабатывание здесь опаснее пропуска, поэтому проверка отрицаний обязательна для каждого признака и закреплена тестом.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8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51247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B9C4D6"/>
                </a:solidFill>
                <a:latin typeface="Barlow Condensed"/>
              </a:rPr>
              <a:t>JI STUDIO  —  МИНИСТЕРСТВО ОБОРОНЫ РК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B9C4D6"/>
                </a:solidFill>
                <a:latin typeface="Barlow Condensed"/>
              </a:rPr>
              <a:t>13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2A3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66928" cy="566928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Barlow Condensed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00"/>
              </a:lnSpc>
            </a:pPr>
            <a:r>
              <a:rPr sz="4000" b="1" i="0">
                <a:solidFill>
                  <a:srgbClr val="FFFFFF"/>
                </a:solidFill>
                <a:latin typeface="Barlow Condensed"/>
              </a:rPr>
              <a:t>ПРИМЕНЕНИЕ</a:t>
            </a:r>
          </a:p>
          <a:p>
            <a:pPr algn="l">
              <a:lnSpc>
                <a:spcPts val="4600"/>
              </a:lnSpc>
            </a:pPr>
            <a:r>
              <a:rPr sz="4000" b="1" i="0">
                <a:solidFill>
                  <a:srgbClr val="FFFFFF"/>
                </a:solidFill>
                <a:latin typeface="Barlow Condensed"/>
              </a:rPr>
              <a:t>В МИНИСТЕРСТВЕ ОБОРОНЫ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60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B9C4D6"/>
                </a:solidFill>
                <a:latin typeface="Barlow"/>
              </a:rPr>
              <a:t>Четыре задачи, которые решаются теми же механизмами.</a:t>
            </a:r>
          </a:p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B9C4D6"/>
                </a:solidFill>
                <a:latin typeface="Barlow"/>
              </a:rPr>
              <a:t>Ничего не нужно изобретать заново — только настроить под ваши документы.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МИНИСТЕРСТВО ОБОРОНЫ РК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14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89611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ПРИМЕНЕНИЕ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ЧЕТЫРЕ СЦЕНАРИЯ ПРИМЕНЕНИЯ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544982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" y="2404872"/>
            <a:ext cx="329184" cy="329184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Barlow Condense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2404872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01F20"/>
                </a:solidFill>
                <a:latin typeface="Barlow Condensed"/>
              </a:rPr>
              <a:t>ВЕДОМСТВЕННЫЙ АРХИВ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898648"/>
            <a:ext cx="49011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6B7072"/>
                </a:solidFill>
                <a:latin typeface="Barlow"/>
              </a:rPr>
              <a:t>Оцифровка и осмысленный поиск по фондам: приказы, личные дела, отчёты, историческая документация. Поиск по содержанию вместо перебора описей.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" y="3657600"/>
            <a:ext cx="4901184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758184"/>
            <a:ext cx="4901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C5C7A"/>
                </a:solidFill>
                <a:latin typeface="Barlow"/>
              </a:rPr>
              <a:t>Основа: ArchivAI — без доработок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2148840"/>
            <a:ext cx="544982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64807" y="2404872"/>
            <a:ext cx="329184" cy="329184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Barlow Condense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8583" y="2404872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01F20"/>
                </a:solidFill>
                <a:latin typeface="Barlow Condensed"/>
              </a:rPr>
              <a:t>ПРАВОВАЯ РАБОТА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2898648"/>
            <a:ext cx="49011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6B7072"/>
                </a:solidFill>
                <a:latin typeface="Barlow"/>
              </a:rPr>
              <a:t>Претензионно-исковая деятельность: разбор материалов, оценка перспектив спора, подготовка позиции и перечня вопросов.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64807" y="3657600"/>
            <a:ext cx="4901184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3758184"/>
            <a:ext cx="4901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C5C7A"/>
                </a:solidFill>
                <a:latin typeface="Barlow"/>
              </a:rPr>
              <a:t>Основа: Судебный ассистент — смена области права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97680"/>
            <a:ext cx="544982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59" y="4553712"/>
            <a:ext cx="329184" cy="329184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Barlow Condense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6736" y="4553712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01F20"/>
                </a:solidFill>
                <a:latin typeface="Barlow Condensed"/>
              </a:rPr>
              <a:t>ПРОВЕРКА КОМПЛЕКТНОСТИ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047488"/>
            <a:ext cx="49011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6B7072"/>
                </a:solidFill>
                <a:latin typeface="Barlow"/>
              </a:rPr>
              <a:t>Сверка договоров, актов приёмки и закупочной документации: несовпадающие суммы, даты и реквизиты между документами одного пакета.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59" y="5806440"/>
            <a:ext cx="4901184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5907024"/>
            <a:ext cx="4901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C5C7A"/>
                </a:solidFill>
                <a:latin typeface="Barlow"/>
              </a:rPr>
              <a:t>Основа: Механизм сверки — новая предметная область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0488" y="4297680"/>
            <a:ext cx="544982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64807" y="4553712"/>
            <a:ext cx="329184" cy="329184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Barlow Condense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58583" y="4553712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01F20"/>
                </a:solidFill>
                <a:latin typeface="Barlow Condensed"/>
              </a:rPr>
              <a:t>ИЗВЛЕЧЕНИЕ ДАННЫХ ИЗ СКАНОВ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7" y="5047488"/>
            <a:ext cx="49011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6B7072"/>
                </a:solidFill>
                <a:latin typeface="Barlow"/>
              </a:rPr>
              <a:t>Превращение скана приказа, донесения или отчёта в структурированную запись для учётной системы.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64807" y="5806440"/>
            <a:ext cx="4901184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7" y="5907024"/>
            <a:ext cx="4901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C5C7A"/>
                </a:solidFill>
                <a:latin typeface="Barlow"/>
              </a:rPr>
              <a:t>Основа: Конвейер ArchivAI — новая схема данных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МИНИСТЕРСТВО ОБОРОНЫ РК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274320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От обследования до эксплуатации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15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ПОРЯДОК РАБОТ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КАК МЫ ПРЕДЛАГАЕМ ДЕЙСТВОВАТЬ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8595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1500" b="0" i="0">
                <a:solidFill>
                  <a:srgbClr val="3C5C7A"/>
                </a:solidFill>
                <a:latin typeface="Barlow"/>
              </a:rPr>
              <a:t>Каждый этап заканчивается результатом, который можно проверить и на котором можно остановиться. Мы не просим решение о внедрении до того, как вы увидите систему на своих документах.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2624328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" y="3273552"/>
            <a:ext cx="329184" cy="329184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Barlow Condense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31012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3C5C7A"/>
                </a:solidFill>
                <a:latin typeface="Barlow Condensed"/>
              </a:rPr>
              <a:t>2 НЕДЕЛИ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749039"/>
            <a:ext cx="21488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1" i="0">
                <a:solidFill>
                  <a:srgbClr val="101F20"/>
                </a:solidFill>
                <a:latin typeface="Barlow Condensed"/>
              </a:rPr>
              <a:t>ОБСЛЕДОВАНИЕ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443984"/>
            <a:ext cx="2148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Разбираем, какие документы и процессы участвуют, фиксируем требования к контуру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7832" y="4023360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980A6"/>
                </a:solidFill>
                <a:latin typeface="Barlow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10712" y="3017520"/>
            <a:ext cx="2624328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66744" y="3273552"/>
            <a:ext cx="329184" cy="329184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Barlow Condensed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4" y="331012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3C5C7A"/>
                </a:solidFill>
                <a:latin typeface="Barlow Condensed"/>
              </a:rPr>
              <a:t>4–6 НЕДЕЛЬ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6744" y="3749039"/>
            <a:ext cx="21488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1" i="0">
                <a:solidFill>
                  <a:srgbClr val="101F20"/>
                </a:solidFill>
                <a:latin typeface="Barlow Condensed"/>
              </a:rPr>
              <a:t>ПРОТОТИП НА ВАШИХ ДАННЫХ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6744" y="4443984"/>
            <a:ext cx="2148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Система работает на реальном образце фонда. Здесь становится видно качество распознавания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9904" y="4023360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980A6"/>
                </a:solidFill>
                <a:latin typeface="Barlow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72783" y="3017520"/>
            <a:ext cx="2624328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28816" y="3273552"/>
            <a:ext cx="329184" cy="329184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Barlow Condensed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6016" y="331012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3C5C7A"/>
                </a:solidFill>
                <a:latin typeface="Barlow Condensed"/>
              </a:rPr>
              <a:t>2–3 МЕСЯЦА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8816" y="3749039"/>
            <a:ext cx="21488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1" i="0">
                <a:solidFill>
                  <a:srgbClr val="101F20"/>
                </a:solidFill>
                <a:latin typeface="Barlow Condensed"/>
              </a:rPr>
              <a:t>ОПЫТНАЯ ЭКСПЛУАТАЦИЯ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4443984"/>
            <a:ext cx="2148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Ограниченный круг пользователей, сбор замечаний, настройка под ваши правила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1976" y="4023360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980A6"/>
                </a:solidFill>
                <a:latin typeface="Barlow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34856" y="3017520"/>
            <a:ext cx="2624328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90888" y="3273552"/>
            <a:ext cx="329184" cy="329184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Barlow Condensed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48088" y="331012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3C5C7A"/>
                </a:solidFill>
                <a:latin typeface="Barlow Condensed"/>
              </a:rPr>
              <a:t>ПОСЛЕ ПИЛОТА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90888" y="3749039"/>
            <a:ext cx="21488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1" i="0">
                <a:solidFill>
                  <a:srgbClr val="101F20"/>
                </a:solidFill>
                <a:latin typeface="Barlow Condensed"/>
              </a:rPr>
              <a:t>ВНЕДРЕНИЕ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90888" y="4443984"/>
            <a:ext cx="2148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Полный объём, обучение сотрудников, передача исходного кода и документации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300" b="0" i="1">
                <a:solidFill>
                  <a:srgbClr val="3C5C7A"/>
                </a:solidFill>
                <a:latin typeface="Barlow"/>
              </a:rPr>
              <a:t>Исходный код передаётся заказчику. Привязки к нам как к поставщику не возникает — систему можно развивать силами ведомства.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МИНИСТЕРСТВО ОБОРОНЫ РК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274320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Обе системы — прототипы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16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ЧЕСТНО О ГРАНИЦАХ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ЧТО НУЖНО ДОСТРОИТЬ ДЛЯ ЭКСПЛУАТАЦИИ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8595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1500" b="0" i="0">
                <a:solidFill>
                  <a:srgbClr val="3C5C7A"/>
                </a:solidFill>
                <a:latin typeface="Barlow"/>
              </a:rPr>
              <a:t>Мы называем это прямо, потому что на этом строится смета и сроки. Ниже — то, чего в текущих системах нет и что войдёт в состав работ.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5449824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3163824"/>
            <a:ext cx="4901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F20"/>
                </a:solidFill>
                <a:latin typeface="Barlow"/>
              </a:rPr>
              <a:t>Вход и разграничение прав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456432"/>
            <a:ext cx="49011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Учётные записи, роли, интеграция с ведомственным каталогом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0488" y="3017520"/>
            <a:ext cx="5449824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3163824"/>
            <a:ext cx="4901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F20"/>
                </a:solidFill>
                <a:latin typeface="Barlow"/>
              </a:rPr>
              <a:t>Журнал действий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3456432"/>
            <a:ext cx="49011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Кто, когда и что просмотрел или изменил — с неизменяемой записью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59935"/>
            <a:ext cx="5449824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206240"/>
            <a:ext cx="4901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F20"/>
                </a:solidFill>
                <a:latin typeface="Barlow"/>
              </a:rPr>
              <a:t>Шифрование хранилища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498848"/>
            <a:ext cx="49011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Защита данных на диске и в резервных копиях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0488" y="4059935"/>
            <a:ext cx="5449824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4206240"/>
            <a:ext cx="4901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F20"/>
                </a:solidFill>
                <a:latin typeface="Barlow"/>
              </a:rPr>
              <a:t>Аттестация контура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4498848"/>
            <a:ext cx="49011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Приведение в соответствие требованиям информационной безопасности ведомства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102352"/>
            <a:ext cx="5449824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5248656"/>
            <a:ext cx="4901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F20"/>
                </a:solidFill>
                <a:latin typeface="Barlow"/>
              </a:rPr>
              <a:t>Обучение на ваших данных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5541264"/>
            <a:ext cx="49011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Судебная модель обучена на синтетическом наборе. Для практики нужен корпус реальных исходов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0488" y="5102352"/>
            <a:ext cx="5449824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7" y="5248656"/>
            <a:ext cx="4901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01F20"/>
                </a:solidFill>
                <a:latin typeface="Barlow"/>
              </a:rPr>
              <a:t>Проверка на смещения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7" y="5541264"/>
            <a:ext cx="49011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Модель, обученная на прошлых решениях, воспроизводит и их перекосы — это измеряется до запуска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МИНИСТЕРСТВО ОБОРОНЫ РК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274320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Начинаем с одного варианта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17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ПРЕДЛОЖЕНИЕ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С ЧЕГО ПРЕДЛАГАЕМ НАЧАТЬ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1109167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2487168"/>
            <a:ext cx="365760" cy="36576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Barlow Condense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14015"/>
            <a:ext cx="6035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01F20"/>
                </a:solidFill>
                <a:latin typeface="Barlow Condensed"/>
              </a:rPr>
              <a:t>ОЦИФРОВКА АРХИВНОГО ФОНДА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816352"/>
            <a:ext cx="7680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6B7072"/>
                </a:solidFill>
                <a:latin typeface="Barlow"/>
              </a:rPr>
              <a:t>Прототип ArchivAI на вашем образце: 1 000–2 000 страниц, отчёт о качестве распознавания и оценка полного объёма.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64040" y="2505456"/>
            <a:ext cx="1874519" cy="566928"/>
          </a:xfrm>
          <a:prstGeom prst="rect">
            <a:avLst/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265176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0F85"/>
                </a:solidFill>
                <a:latin typeface="Barlow Condensed"/>
              </a:rPr>
              <a:t>4–6 НЕДЕЛЬ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66160"/>
            <a:ext cx="1109167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3858768"/>
            <a:ext cx="365760" cy="36576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Barlow Condense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85615"/>
            <a:ext cx="6035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01F20"/>
                </a:solidFill>
                <a:latin typeface="Barlow Condensed"/>
              </a:rPr>
              <a:t>ПРАВОВОЙ МОДУЛЬ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187952"/>
            <a:ext cx="7680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6B7072"/>
                </a:solidFill>
                <a:latin typeface="Barlow"/>
              </a:rPr>
              <a:t>Настройка судебного ассистента под претензионно-исковую работу ведомства, разметка корпуса дел, обучение и проверка модели.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64040" y="3877056"/>
            <a:ext cx="1874519" cy="566928"/>
          </a:xfrm>
          <a:prstGeom prst="rect">
            <a:avLst/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402336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0F85"/>
                </a:solidFill>
                <a:latin typeface="Barlow Condensed"/>
              </a:rPr>
              <a:t>8–10 НЕДЕЛЬ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937760"/>
            <a:ext cx="1109167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" y="5230368"/>
            <a:ext cx="365760" cy="36576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Barlow Condensed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157216"/>
            <a:ext cx="6035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01F20"/>
                </a:solidFill>
                <a:latin typeface="Barlow Condensed"/>
              </a:rPr>
              <a:t>СВЕРКА ДОКУМЕНТОВ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559552"/>
            <a:ext cx="7680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6B7072"/>
                </a:solidFill>
                <a:latin typeface="Barlow"/>
              </a:rPr>
              <a:t>Проверка комплектности и расхождений в закупочной и договорной документации: отдельный контур на существующем механизме.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64040" y="5248656"/>
            <a:ext cx="1874519" cy="566928"/>
          </a:xfrm>
          <a:prstGeom prst="rect">
            <a:avLst/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4040" y="539496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0F85"/>
                </a:solidFill>
                <a:latin typeface="Barlow Condensed"/>
              </a:rPr>
              <a:t>6–8 НЕДЕЛЬ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72784"/>
            <a:ext cx="11091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C5C7A"/>
                </a:solidFill>
                <a:latin typeface="Barlow"/>
              </a:rPr>
              <a:t>ЧТО НУЖНО ДЛЯ СТАРТА:  образец документов  ·  требования к контуру  ·  ответственный сотрудник ведомства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8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51247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B9C4D6"/>
                </a:solidFill>
                <a:latin typeface="Barlow Condensed"/>
              </a:rPr>
              <a:t>JI STUDIO  —  МИНИСТЕРСТВО ОБОРОНЫ РК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B9C4D6"/>
                </a:solidFill>
                <a:latin typeface="Barlow Condensed"/>
              </a:rPr>
              <a:t>18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2A3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1737360" cy="5356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017520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3600" b="1" i="0">
                <a:solidFill>
                  <a:srgbClr val="FFFFFF"/>
                </a:solidFill>
                <a:latin typeface="Barlow Condensed"/>
              </a:rPr>
              <a:t>ГОТОВЫ ПОКАЗАТЬ ОБЕ СИСТЕМЫ</a:t>
            </a:r>
          </a:p>
          <a:p>
            <a:pPr algn="l">
              <a:lnSpc>
                <a:spcPts val="4200"/>
              </a:lnSpc>
            </a:pPr>
            <a:r>
              <a:rPr sz="3600" b="1" i="0">
                <a:solidFill>
                  <a:srgbClr val="FFFFFF"/>
                </a:solidFill>
                <a:latin typeface="Barlow Condensed"/>
              </a:rPr>
              <a:t>В РАБОТЕ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434840"/>
            <a:ext cx="3840480" cy="9525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709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1500" b="0" i="0">
                <a:solidFill>
                  <a:srgbClr val="B9C4D6"/>
                </a:solidFill>
                <a:latin typeface="Barlow"/>
              </a:rPr>
              <a:t>Демонстрация занимает 30 минут и проводится на нашем оборудовании</a:t>
            </a:r>
          </a:p>
          <a:p>
            <a:pPr algn="l">
              <a:lnSpc>
                <a:spcPts val="2300"/>
              </a:lnSpc>
            </a:pPr>
            <a:r>
              <a:rPr sz="1500" b="0" i="0">
                <a:solidFill>
                  <a:srgbClr val="B9C4D6"/>
                </a:solidFill>
                <a:latin typeface="Barlow"/>
              </a:rPr>
              <a:t>либо на вашем — обе системы разворачиваются без доступа в интернет.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436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FFFFFF"/>
                </a:solidFill>
                <a:latin typeface="Barlow Condensed"/>
              </a:rPr>
              <a:t>JI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5943600"/>
            <a:ext cx="3410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 i="0">
                <a:solidFill>
                  <a:srgbClr val="5980A6"/>
                </a:solidFill>
                <a:latin typeface="Barlow"/>
              </a:rPr>
              <a:t>dev2JIstudio@proton.me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