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Ошибок при чтении листа</c:v>
                </c:pt>
              </c:strCache>
            </c:strRef>
          </c:tx>
          <c:spPr>
            <a:solidFill>
              <a:srgbClr val="000F85"/>
            </a:solidFill>
          </c:spPr>
          <c:cat>
            <c:strRef>
              <c:f>Sheet1!$A$2:$A$6</c:f>
              <c:strCache>
                <c:ptCount val="5"/>
                <c:pt idx="0">
                  <c:v>Как было
сначала</c:v>
                </c:pt>
                <c:pt idx="1">
                  <c:v>Настройка
чтения</c:v>
                </c:pt>
                <c:pt idx="2">
                  <c:v>Убрали лишнюю
обработку</c:v>
                </c:pt>
                <c:pt idx="3">
                  <c:v>Лучшее
сочетание</c:v>
                </c:pt>
                <c:pt idx="4">
                  <c:v>Отсев чужих
букв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0.309</c:v>
                </c:pt>
                <c:pt idx="1">
                  <c:v>0.296</c:v>
                </c:pt>
                <c:pt idx="2">
                  <c:v>0.219</c:v>
                </c:pt>
                <c:pt idx="3">
                  <c:v>0.202</c:v>
                </c:pt>
                <c:pt idx="4">
                  <c:v>0.198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101F20"/>
                  </a:solidFill>
                  <a:latin typeface="Barlow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8DC"/>
            </a:solidFill>
          </a:ln>
        </c:spPr>
        <c:txPr>
          <a:bodyPr/>
          <a:lstStyle/>
          <a:p>
            <a:pPr>
              <a:defRPr sz="1000">
                <a:solidFill>
                  <a:srgbClr val="6B7072"/>
                </a:solidFill>
                <a:latin typeface="Barl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"/>
          <c:min val="0.0"/>
        </c:scaling>
        <c:delete val="0"/>
        <c:axPos val="l"/>
        <c:majorGridlines>
          <c:spPr>
            <a:ln>
              <a:solidFill>
                <a:srgbClr val="D8D8DC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072"/>
                </a:solidFill>
                <a:latin typeface="Barlow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фраза: «это не замена вам, это помощник, который делает рутину».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зал: сколько времени уходит на описание одного дела? Дальше — как это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Ключ: не «автоматизация вместо человека», а «черновик, который вы проверяете».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важно: менять привычный порядок сканирования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фильтр «ждёт проверки» — это рабочая очередь сотрудника.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внимание: это черновик описания. Правится в один клик —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слайд для снятия тревоги: без сотрудника система ничего не утверждает.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Сравнить с поиском по описи: там нужно знать слово, здесь — только 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про справочную работу: время на подбор дел по запросу резко сокращается.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не нужно ждать ИТ-отдел, чтобы добавить вид документа под ваш регламент.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архивиста это самая понятная выгода: указатель, который иначе делается годами.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Датчики — по запросу клиента; подключается любой прибор, который умеет отправлять показания.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«слежка», а прозрачность работы и защита от случайных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Самый важный слайд для сотрудников: показывает выгоду в их же задачах.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Честность здесь работает лучше обещаний: архивисты сразу проверяют такие вещи.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пропускать этот слайд: именно эти четыре вопроса решают отношение сотрудников.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Закрытие: предложить пилот на их делах и попросить показать текущий регламент описания.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737360" cy="5356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9601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APPLIED AI  ·  AUTONOMOUS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822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Barlow Condensed"/>
              </a:rPr>
              <a:t>ARCHIVAI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D5DCE8"/>
                </a:solidFill>
                <a:latin typeface="Barlow Condensed"/>
              </a:rPr>
              <a:t>Помощник архивиста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4754880" cy="9525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B9C4D6"/>
                </a:solidFill>
                <a:latin typeface="Barlow"/>
              </a:rPr>
              <a:t>Программа читает сканы вместо вас, заполняет описание документа,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B9C4D6"/>
                </a:solidFill>
                <a:latin typeface="Barlow"/>
              </a:rPr>
              <a:t>находит дела по смыслу и собирает именной указатель.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B9C4D6"/>
                </a:solidFill>
                <a:latin typeface="Barlow"/>
              </a:rPr>
              <a:t>Решение всегда остаётся за сотрудником.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402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ДЛЯ КОГО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4780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Сотрудники архива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2898648"/>
            <a:ext cx="3090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08152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ЧТО ЭТО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3192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Рабочая программа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3739896"/>
            <a:ext cx="3090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9227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ГДЕ РАБОТАЕТ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160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На компьютерах архива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4581144"/>
            <a:ext cx="3090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76402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ЯЗЫКИ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0017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Русский · қазақша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ЗНАКОМАЯ КАРТИНА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КАК ЭТО ПРОИСХОДИТ СЕГОДНЯ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СКОЛЬКО ВРЕМЕНИ УХОДИТ НА РУТИНУ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Перепечатать текст с листа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060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Чтобы дело можно было найти поиском, кто-то должен набрать текст руками.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27832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27832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6499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Заполнить карточку описания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850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Вид документа, дата, кто кому пишет, о чём — всё вносится вручную.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06824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4398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Вспомнить, где встречалась фамилия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64024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Приходится держать в голове или искать по описям и своим записям.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85816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85816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2297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Ответить исследователю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843016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Запрос «всё о переселении 1930-х» — это дни просмотра дел вручную.</a:t>
            </a:r>
          </a:p>
        </p:txBody>
      </p:sp>
      <p:pic>
        <p:nvPicPr>
          <p:cNvPr id="26" name="Picture 25" descr="scan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48840"/>
            <a:ext cx="2697480" cy="40502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80960" y="6263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50" b="0" i="0">
                <a:solidFill>
                  <a:srgbClr val="6B7072"/>
                </a:solidFill>
                <a:latin typeface="Barlow"/>
              </a:rPr>
              <a:t>Такой лист сегодня читают и перепечатывают вручную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ШЕСТЬ ШАГОВ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ПРОГРАММА ДЕЛАЕТ ЗА ВАС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Прочитает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разберёт машинопись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и рукописные пометки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2304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2304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Опишет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вид документа, дата,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от кого и кому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Перескажет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3–4 предложения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о чём документ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Выпишет имена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люди, организации,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места, даты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5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Свяжет дела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покажет, где ещё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встречается человек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6960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Спросит вас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вы проверяете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и подтверждаете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846320"/>
            <a:ext cx="1109167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0474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Работа с описанием превращается в проверку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Вместо того чтобы набирать текст и заполнять поля с нуля, вы открываете готовое описание, поправляете неточности и подтверждаете. Всё, что вы исправили, программа запоминает.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ЗАГРУЗКИ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ЗАГРУЗКА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СКАНЫ ПОПАДАЮТ В ПРОГРАММУ САМИ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6675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6400800" cy="3642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224028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Можно просто перетащить сканы мышкой — по одному или сразу дело целиком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Если сканы складывают в общую папку, программа забирает их оттуда сама, каждые несколько минут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Сотня сканов заливается за один раз — не нужно открывать каждый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Один и тот же скан дважды не попадёт: программа узнаёт уже обработанные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СПИСКА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СПИСОК ДОКУМЕНТОВ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ВСЁ, ЧТО ОБРАБОТАНО — ПЕРЕД ГЛАЗАМИ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183112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10908792" cy="34729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Видно, что уже готово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«обрабатывается» · «ждёт проверки» · «проверено»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Видно, что не получилось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053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плохой скан не потеряется — он помечен отдельно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Видно сам лист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053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рядом с названием — маленькое изображение скана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ДОКУМЕНТА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КАРТОЧКА ДОКУМЕНТА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СЛЕВА ЛИСТ — СПРАВА ГОТОВОЕ ОПИСАНИЕ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25780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12848"/>
            <a:ext cx="3904861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2139696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585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Вид документа и дата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603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приказ, протокол, переписка — как принято у вас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990088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1089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От кого и кому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10712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с должностью, если она есть в тексте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840480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9593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О чём документ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26110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короткий пересказ на русском — суть, не читая весь лист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690872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80974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Имена и названия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111496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люди · организации · места · даты · количества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5541264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66013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Весь текст листа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961888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можно прочитать, скопировать, вставить в справку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ПРОВЕРКА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ПОСЛЕДНЕЕ СЛОВО ВСЕГДА ЗА ВАМИ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51383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_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212848"/>
            <a:ext cx="4682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212848"/>
            <a:ext cx="5257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Ошиблась в фамилии — нажмите на неё и исправьте, как в обычном документе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Пропустила организацию — добавьте сами, она встанет в общий указатель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Всё верно — нажмите «Проверено», и дело получает отметку сотрудника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Видно, кто и когда правил: это ваша работа, она зафиксирована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Проверенные дела программа больше не трогает при повторной обработке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49240"/>
            <a:ext cx="5257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00F85"/>
                </a:solidFill>
                <a:latin typeface="Barlow Condensed"/>
              </a:rPr>
              <a:t>ПРОГРАММА ПРЕДЛАГАЕТ — СОТРУДНИК РЕШАЕТ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7044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3C5C7A"/>
                </a:solidFill>
                <a:latin typeface="Barlow"/>
              </a:rPr>
              <a:t>Ни одна запись не считается верной, пока её не подтвердил человек.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ПОИСКА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08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ПОИСК ПО ФОНДУ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ПОИСК ПОНИМАЕТ СМЫСЛ, А НЕ ТОЛЬКО СЛОВА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6720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12848"/>
            <a:ext cx="6446520" cy="2377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4892040"/>
            <a:ext cx="6720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earch_re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6446520" cy="1410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224028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Спросите «что-нибудь о кулачестве» — найдутся дела, где этих слов нет, но речь об этом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Не нужно угадывать формулировку из описи или помнить точное название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Ищет по русским и казахским текстам, в том числе в старом написании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Ваши прошлые запросы сохраняются — можно вернуться к ним одним нажатием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ЭКРАН ВОПРОСОВ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09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ПОМОЩНИК-СОБЕСЕДНИК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МОЖНО ПРОСТО СПРОСИТЬ У АРХИВА</a:t>
            </a:r>
          </a:p>
        </p:txBody>
      </p:sp>
      <p:pic>
        <p:nvPicPr>
          <p:cNvPr id="10" name="Picture 9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6263640" cy="3678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23760" y="2286000"/>
            <a:ext cx="4434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Спрашиваете обычными словами: «Кто и кому писал о юбилее Абая?»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Ответ собирается только по вашим делам — ничего не берётся из интернета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Рядом с ответом — ссылки на дела; нажали и открыли сам лист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Если в фонде такого нет, программа так и скажет, а не придумает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Удобно для справок исследователям: черновик ответа со ссылками готов сразу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5623560"/>
            <a:ext cx="4434840" cy="777240"/>
          </a:xfrm>
          <a:prstGeom prst="rect">
            <a:avLst/>
          </a:prstGeom>
          <a:noFill/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576072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Barlow"/>
              </a:rPr>
              <a:t>Ответ всегда со ссылкой на дело — можно проверить</a:t>
            </a:r>
          </a:p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Barlow"/>
              </a:rPr>
              <a:t>каждое слово по первоисточнику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ЭКРАН НАСТРОЙКИ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НАСТРОЙКА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НАСТРОИТЬ МОЖНО СЛОВАМИ</a:t>
            </a:r>
          </a:p>
        </p:txBody>
      </p:sp>
      <p:pic>
        <p:nvPicPr>
          <p:cNvPr id="10" name="Picture 9" descr="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6355080" cy="5892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5980A6"/>
                </a:solidFill>
                <a:latin typeface="Barlow Condensed"/>
              </a:rPr>
              <a:t>ПРОСТО НАПИШИТЕ, ЧТО НУЖНО: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651760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743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«Добавь вид документа „протокол“</a:t>
            </a:r>
          </a:p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и перепроверь дела»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3364991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4564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«Покажи на главной приказы по годам»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4078224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169663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«Ищи ближе по смыслу»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4791456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882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«Объедини одинаковые фамилии»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577840"/>
            <a:ext cx="4389120" cy="868680"/>
          </a:xfrm>
          <a:prstGeom prst="rect">
            <a:avLst/>
          </a:prstGeom>
          <a:noFill/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5742432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D5DCE8"/>
                </a:solidFill>
                <a:latin typeface="Barlow"/>
              </a:rPr>
              <a:t>Программа показывает, что именно изменилось, и любую настройку можно вернуть назад одной кнопкой. Испортить ничего нельзя.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СВЯЗЕЙ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11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ЛЮДИ И ОРГАНИЗАЦИИ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ИМЕННОЙ УКАЗАТЕЛЬ СОБИРАЕТСЯ САМ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7040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nt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12848"/>
            <a:ext cx="6803136" cy="4315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2240280"/>
            <a:ext cx="3794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Одна фамилия — одна карточка, даже если в делах она написана по-разному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Видно все дела, где человек упоминается: не нужно листать описи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Схема показывает, кто с кем встречается в одних и тех же делах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Список можно выгрузить таблицей — для описи, отчёта или справочника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СВОДКИ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ГЛАВНАЯ СТРАНИЦА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СВОДКА ПО ФОНДУ И УСЛОВИЯ ХРАНЕНИЯ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76809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12848"/>
            <a:ext cx="7443216" cy="41286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58200" y="224028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Сколько дел обработано, сколько имён и организаций найдено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По каким годам и языкам распределён фонд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Числа считаются из одного места — они не спорят между собой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Тут же температура и влажность в хранилище, если стоят датчики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Отклонение от нормы видно сразу по цвету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ЭКРАН УЧЁТА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ПОРЯДОК И УЧЁТ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ВИДНО, КТО И С ЧЕМ РАБОТАЛ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03120"/>
            <a:ext cx="747979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212848"/>
            <a:ext cx="4535035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24028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У каждого сотрудника свой вход — работа не смешивается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Записано, кто какие дела открывал и что искал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Видно, какие дела спрашивают чаще всего — это материал для планов оцифровки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Ваши правки видны как ваша работа, а не как «что-то поменялось»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Справочники и массовые операции доступны только ответственному сотруднику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БЫЛО / СТАЛО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СРАВНЕНИЕ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МЕНЯЕТСЯ В ВАШЕЙ РАБОТЕ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86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6B7072"/>
                </a:solidFill>
                <a:latin typeface="Barlow Condensed"/>
              </a:rPr>
              <a:t>ЗАДАЧА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6B7072"/>
                </a:solidFill>
                <a:latin typeface="Barlow Condensed"/>
              </a:rPr>
              <a:t>СЕГОДНЯ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000F85"/>
                </a:solidFill>
                <a:latin typeface="Barlow Condensed"/>
              </a:rPr>
              <a:t>С ПРОГРАММОЙ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11091672" cy="9525"/>
          </a:xfrm>
          <a:prstGeom prst="rect">
            <a:avLst/>
          </a:prstGeom>
          <a:solidFill>
            <a:srgbClr val="1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8833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9806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Описание одного дела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9806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072"/>
                </a:solidFill>
                <a:latin typeface="Barlow"/>
              </a:rPr>
              <a:t>набрать текст и заполнить поля вручную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9806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F85"/>
                </a:solidFill>
                <a:latin typeface="Barlow"/>
              </a:rPr>
              <a:t>проверить готовое описание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9856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Поиск по фонду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19856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072"/>
                </a:solidFill>
                <a:latin typeface="Barlow"/>
              </a:rPr>
              <a:t>вспомнить формулировку из описи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1985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F85"/>
                </a:solidFill>
                <a:latin typeface="Barlow"/>
              </a:rPr>
              <a:t>спросить своими словами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41648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Справка исследователю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41648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072"/>
                </a:solidFill>
                <a:latin typeface="Barlow"/>
              </a:rPr>
              <a:t>просмотр дел вручную, несколько дней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416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F85"/>
                </a:solidFill>
                <a:latin typeface="Barlow"/>
              </a:rPr>
              <a:t>подборка со ссылками сразу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634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Именной указатель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634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072"/>
                </a:solidFill>
                <a:latin typeface="Barlow"/>
              </a:rPr>
              <a:t>собирается годами, вручную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6634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F85"/>
                </a:solidFill>
                <a:latin typeface="Barlow"/>
              </a:rPr>
              <a:t>собирается сам, вы уточняете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7550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85232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Разные написания фамилии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285232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072"/>
                </a:solidFill>
                <a:latin typeface="Barlow"/>
              </a:rPr>
              <a:t>остаются разными записями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28523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F85"/>
                </a:solidFill>
                <a:latin typeface="Barlow"/>
              </a:rPr>
              <a:t>сводятся в одну карточку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0702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Знание о фонде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907024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072"/>
                </a:solidFill>
                <a:latin typeface="Barlow"/>
              </a:rPr>
              <a:t>в голове у опытных сотрудников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90702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0F85"/>
                </a:solidFill>
                <a:latin typeface="Barlow"/>
              </a:rPr>
              <a:t>остаётся в системе для всех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КАЧЕСТВО ЧТЕНИЯ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ЧЕСТНО ОБ ОШИБКАХ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ПРОГРАММА ОШИБАЕТСЯ — И МЫ ЭТО СЧИТАЕМ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2194560"/>
          <a:ext cx="68580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5216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1">
                <a:solidFill>
                  <a:srgbClr val="6B7072"/>
                </a:solidFill>
                <a:latin typeface="Barlow"/>
              </a:rPr>
              <a:t>Доля неверно прочитанных букв на вашем листе 1931 года. Ниже — лучше.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86000"/>
            <a:ext cx="39776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Мы взяли ваш лист, набрали текст вручную как эталон и сверяем с ним каждую настройку</a:t>
            </a:r>
          </a:p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Изменение оставляем, только если ошибок стало меньше — не «на глаз»</a:t>
            </a:r>
          </a:p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Ошибки чаще всего в цифрах и в плохо пропечатанных местах — их и проверяет сотрудник</a:t>
            </a:r>
          </a:p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Чем лучше скан, тем меньше ошибок: с хорошим сканером результат заметно выше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5257800"/>
            <a:ext cx="3977639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541324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0F85"/>
                </a:solidFill>
                <a:latin typeface="Barlow Condensed"/>
              </a:rPr>
              <a:t>ПОЭТОМУ ПРОВЕРКА ОБЯЗАТЕЛЬНА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724144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3C5C7A"/>
                </a:solidFill>
                <a:latin typeface="Barlow"/>
              </a:rPr>
              <a:t>Программа делает черновик, точность растёт, но подпись под описанием — ваша.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ОТВЕТЫ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ЧАСТЫЕ ВОПРОСЫ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ВОПРОСЫ, КОТОРЫЕ ЗАДАЮТ ПЕРВЫМИ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arlow Condensed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500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Меня заменят?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7432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Нет. Программа не подписывает описание и не отвечает исследователю — она готовит черновик, чтобы вы не набирали текст вручную.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224028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224028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arlow Condensed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500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Куда попадут документы?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Никуда. Всё остаётся на компьютерах архива, ничего не уходит в интернет и посторонним.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arlow Condensed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616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Нужно ли учиться?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548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Несколько часов. Экраны как в обычной программе: список дел, карточка, поиск. Отдельно покажем на ваших делах.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425196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425196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arlow Condensed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616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А если ошибётся?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7548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Вы исправляете прямо в карточке — это одно нажатие. Исправления сохраняются, и дальше программа читает точнее.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55080"/>
            <a:ext cx="11091672" cy="9525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00F85"/>
                </a:solidFill>
                <a:latin typeface="Barlow Condensed"/>
              </a:rPr>
              <a:t>Любой вопрос можно задать прямо сейчас — и мы проверим ответ на ваших делах.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17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ДАЛЬНЕЙШИЕ ШАГИ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С ЧЕГО НАЧНЁМ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371600" cy="38404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FFFFF"/>
                </a:solidFill>
                <a:latin typeface="Barlow Condensed"/>
              </a:rPr>
              <a:t>ШАГ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267712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arlow Condensed"/>
              </a:rPr>
              <a:t>Попробуем на ваших делах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Возьмём 200–500 сканов вашего фонда, настроим виды документов под ваши правила описания и покажем результат на знакомых вам делах.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0712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1371600" cy="38404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935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FFFFF"/>
                </a:solidFill>
                <a:latin typeface="Barlow Condensed"/>
              </a:rPr>
              <a:t>ШАГ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02152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arlow Condensed"/>
              </a:rPr>
              <a:t>Поставим в архиве и научим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8620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Установим на компьютеры архива, заведём сотрудников, проведём короткое обучение на рабочих местах.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45152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371600" cy="38404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280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FFFFF"/>
                </a:solidFill>
                <a:latin typeface="Barlow Condensed"/>
              </a:rPr>
              <a:t>ШАГ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736592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arlow Condensed"/>
              </a:rPr>
              <a:t>Будем улучшать вместе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2064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Ваши правки делают чтение точнее. Добавим то, что нужно именно вам: формы справок, вырезку подписей и печатей, датчики хранилища.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89320"/>
            <a:ext cx="11091672" cy="9525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Barlow Condensed"/>
              </a:rPr>
              <a:t>От вас нужно только одно: показать, как вы описываете дела сегодня.</a:t>
            </a:r>
          </a:p>
        </p:txBody>
      </p:sp>
      <p:pic>
        <p:nvPicPr>
          <p:cNvPr id="27" name="Picture 26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053328"/>
            <a:ext cx="1536192" cy="473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