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ошибочных символов</c:v>
                </c:pt>
              </c:strCache>
            </c:strRef>
          </c:tx>
          <c:spPr>
            <a:solidFill>
              <a:srgbClr val="000F85"/>
            </a:solidFill>
          </c:spPr>
          <c:cat>
            <c:strRef>
              <c:f>Sheet1!$A$2:$A$6</c:f>
              <c:strCache>
                <c:ptCount val="5"/>
                <c:pt idx="0">
                  <c:v>Базовая
настройка</c:v>
                </c:pt>
                <c:pt idx="1">
                  <c:v>Режим
страницы</c:v>
                </c:pt>
                <c:pt idx="2">
                  <c:v>Без жёсткой
бинаризации</c:v>
                </c:pt>
                <c:pt idx="3">
                  <c:v>Оптимальная
связка</c:v>
                </c:pt>
                <c:pt idx="4">
                  <c:v>+ фильтр
языка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0.309</c:v>
                </c:pt>
                <c:pt idx="1">
                  <c:v>0.296</c:v>
                </c:pt>
                <c:pt idx="2">
                  <c:v>0.219</c:v>
                </c:pt>
                <c:pt idx="3">
                  <c:v>0.202</c:v>
                </c:pt>
                <c:pt idx="4">
                  <c:v>0.198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101F20"/>
                  </a:solidFill>
                  <a:latin typeface="Barlow Condense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8DC"/>
            </a:solidFill>
          </a:ln>
        </c:spPr>
        <c:txPr>
          <a:bodyPr/>
          <a:lstStyle/>
          <a:p>
            <a:pPr>
              <a:defRPr sz="1000">
                <a:solidFill>
                  <a:srgbClr val="6B7072"/>
                </a:solidFill>
                <a:latin typeface="Barlo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6"/>
          <c:min val="0.0"/>
        </c:scaling>
        <c:delete val="0"/>
        <c:axPos val="l"/>
        <c:majorGridlines>
          <c:spPr>
            <a:ln>
              <a:solidFill>
                <a:srgbClr val="D8D8DC"/>
              </a:solidFill>
            </a:ln>
          </c:spPr>
        </c:majorGridlines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072"/>
                </a:solidFill>
                <a:latin typeface="Barlow"/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Титул. Тезис: это работающая система, а не концепт — дальше живые экраны.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Боли клиента. Последний пункт подводит к on-prem и открытым моделям.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конвейер прозрачен и расширяем, модели меняются как детали.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Связка с их файловым хранилищем: системе нужны только хранилище и база.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Статус обработки виден сразу, ошибки не теряются.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Резюме и поля извлекаются автоматически — экономия часов описания.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главный страх архива: ИИ ничего не портит и не решает за людей.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Разница с поиском по подстроке — это клиент просил явно.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Дифференциатор №1. У конкурента это только пожелание клиента, у нас работает.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Дифференциатор №2. Конкурент это только обещал — «поэтому продукт и назван Agent D».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Наше преимущество: у конкурента дубликаты «Абай» / «Абай Кунанбаев» живут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IoT-виджет — прямой запрос клиента на демо конкурента.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«compliance»: журнал, адреса, востребованность документов.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Минимальный след: не заменяем инфраструктуру, а подключаемся к 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Честный слайд: метрика и путь роста. Архивисты ценят измеримость.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Конкурента по имени в раздатке не называем — «показанная ранее система».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жаргона: открыто, воспроизводимо и остаётся у клиента.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Закрытие: предложить пилот на их собственных документах.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737360" cy="5356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9601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APPLIED AI  ·  AUTONOMOUS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8229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Barlow Condensed"/>
              </a:rPr>
              <a:t>ARCHIVAI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300" b="0" i="0">
                <a:solidFill>
                  <a:srgbClr val="D5DCE8"/>
                </a:solidFill>
                <a:latin typeface="Barlow Condensed"/>
              </a:rPr>
              <a:t>Искусственный интеллект</a:t>
            </a:r>
          </a:p>
          <a:p>
            <a:pPr algn="l">
              <a:lnSpc>
                <a:spcPts val="3000"/>
              </a:lnSpc>
            </a:pPr>
            <a:r>
              <a:rPr sz="2300" b="0" i="0">
                <a:solidFill>
                  <a:srgbClr val="D5DCE8"/>
                </a:solidFill>
                <a:latin typeface="Barlow Condensed"/>
              </a:rPr>
              <a:t>для исторического архива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72000"/>
            <a:ext cx="4754880" cy="9525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B9C4D6"/>
                </a:solidFill>
                <a:latin typeface="Barlow"/>
              </a:rPr>
              <a:t>Сканы → распознанный текст, структурированные поля, связи между людьми и организациями,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B9C4D6"/>
                </a:solidFill>
                <a:latin typeface="Barlow"/>
              </a:rPr>
              <a:t>семантический поиск и проверка человеком. На открытых моделях, на вашем оборудовании.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8600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5980A6"/>
                </a:solidFill>
                <a:latin typeface="Barlow Condensed"/>
              </a:rPr>
              <a:t>КЛИЕНТ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23744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Государственный архив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2944368"/>
            <a:ext cx="3090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312724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5980A6"/>
                </a:solidFill>
                <a:latin typeface="Barlow Condensed"/>
              </a:rPr>
              <a:t>ПРОДУКТ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364991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ArchivAI · v1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3785615"/>
            <a:ext cx="3090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396849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5980A6"/>
                </a:solidFill>
                <a:latin typeface="Barlow Condensed"/>
              </a:rPr>
              <a:t>РАЗВЁРТЫВАНИЕ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206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On-premise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4626864"/>
            <a:ext cx="3090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480974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5980A6"/>
                </a:solidFill>
                <a:latin typeface="Barlow Condensed"/>
              </a:rPr>
              <a:t>ДАТА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0474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Barlow Condensed"/>
              </a:rPr>
              <a:t>07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01 — 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ЗАДАЧА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ЧТО МЕШАЕТ РАБОТАТЬ С ФОНДОМ СЕГОДНЯ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8600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F20"/>
                </a:solidFill>
                <a:latin typeface="Barlow Condensed"/>
              </a:rPr>
              <a:t>Документы не ищутся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0604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Скан — это картинка. Найти дело можно только по описи и памяти сотрудника.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27832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27832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6499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F20"/>
                </a:solidFill>
                <a:latin typeface="Barlow Condensed"/>
              </a:rPr>
              <a:t>Связи не видны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8503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Кто с кем переписывался, где упоминается человек — собирается вручную, месяцами.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06824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06824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44398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F20"/>
                </a:solidFill>
                <a:latin typeface="Barlow Condensed"/>
              </a:rPr>
              <a:t>Ручная опись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764024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Тип, дата, отправитель, получатель, персоналии — всё вносится руками.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85816"/>
            <a:ext cx="6675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85816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2297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01F20"/>
                </a:solidFill>
                <a:latin typeface="Barlow Condensed"/>
              </a:rPr>
              <a:t>Данные должны остаться у вас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843016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Облачные сервисы и передача фонда наружу — неприемлемы.</a:t>
            </a:r>
          </a:p>
        </p:txBody>
      </p:sp>
      <p:pic>
        <p:nvPicPr>
          <p:cNvPr id="26" name="Picture 25" descr="scan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148840"/>
            <a:ext cx="2697480" cy="40502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80960" y="6263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950" b="0" i="0">
                <a:solidFill>
                  <a:srgbClr val="6B7072"/>
                </a:solidFill>
                <a:latin typeface="Barlow"/>
              </a:rPr>
              <a:t>Типовой лист фонда: машинопись, правки от руки,</a:t>
            </a:r>
          </a:p>
          <a:p>
            <a:pPr algn="l">
              <a:lnSpc>
                <a:spcPts val="1200"/>
              </a:lnSpc>
            </a:pPr>
            <a:r>
              <a:rPr sz="950" b="0" i="0">
                <a:solidFill>
                  <a:srgbClr val="6B7072"/>
                </a:solidFill>
                <a:latin typeface="Barlow"/>
              </a:rPr>
              <a:t>печать, пожелтевшая бумага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20856" y="2148840"/>
            <a:ext cx="201168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0" y="2048256"/>
            <a:ext cx="9525" cy="201168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02 — КОНВЕЙЕР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КАК ЭТО РАБОТАЕТ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ОТ СКАНА ДО ЗНАНИЯ — ЗА ОДИН ПРОХОД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Приём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загрузка или забор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из вашего хранилища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32304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2304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Распознавание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печатный и рукописный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текст, RU + KZ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Извлечение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тип, дата, отправитель,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получатель, резюме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Сущности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люди, организации,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места, даты, количества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5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Индексация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поиск по смыслу,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а не по буквам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154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2286000"/>
            <a:ext cx="170078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6960" y="228600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6688" y="2880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01F20"/>
                </a:solidFill>
                <a:latin typeface="Barlow Condensed"/>
              </a:rPr>
              <a:t>Проверка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3264" y="3200400"/>
            <a:ext cx="14813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правка человеком</a:t>
            </a:r>
          </a:p>
          <a:p>
            <a:pPr algn="l">
              <a:lnSpc>
                <a:spcPts val="1350"/>
              </a:lnSpc>
            </a:pPr>
            <a:r>
              <a:rPr sz="1050" b="0" i="0">
                <a:solidFill>
                  <a:srgbClr val="6B7072"/>
                </a:solidFill>
                <a:latin typeface="Barlow"/>
              </a:rPr>
              <a:t>и статус «проверено»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846320"/>
            <a:ext cx="1109167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0474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Каждый этап — отдельный видимый процесс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394960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6B7072"/>
                </a:solidFill>
                <a:latin typeface="Barlow"/>
              </a:rPr>
              <a:t>Модель распознавания, правила извлечения, набор типов документов можно заменить или дополнить без переписывания системы. Ничего не «зашито» в чёрный ящик: любой шаг открывается, повторяется и настраивается под ваш фонд.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03 —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ПРИЁМ ДОКУМЕНТОВ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ЗАГРУЗКА И ЗАБОР ИЗ ХРАНИЛИЩА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66751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6400800" cy="3642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5240" y="224028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Перетащите сканы в окно — или соберите многостраничное дело из нескольких файлов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«Забрать из хранилища»: система сама берёт новые файлы — 50–100+ документов за раз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Автоматический забор каждые 5 минут: положили сканы в папку — они появились в архиве обработанными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Повторная заливка не создаёт дублей: уже обработанные файлы пропускаются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04 —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АРХИВ ДОКУМЕНТОВ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ВЕСЬ ФОНД — В ОДНОЙ ТАБЛИЦЕ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11183112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10908792" cy="34729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Статусы обработки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обрабатывается · на проверке · проверено · ошибка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Фильтры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60533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по типу, языку, статусу, дате документа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01F20"/>
                </a:solidFill>
                <a:latin typeface="Barlow Condensed"/>
              </a:rPr>
              <a:t>Миниатюры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0533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виден сам скан, а не только имя файла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05 —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КАРТОЧКА ДОКУМЕНТА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СКАН СЛЕВА — ИЗВЛЕЧЁННЫЕ ДАННЫЕ СПРАВА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525780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12848"/>
            <a:ext cx="3904861" cy="4114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72200" y="2139696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25856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Тип, дата, язык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603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классификация по вашему справочнику типов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990088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1089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Отправитель и получатель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410712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с должностью и ролью, если они есть в тексте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840480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9593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Резюме документа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26110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2–4 предложения на русском: суть дела без чтения листа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690872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80974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Сущности по 5 категориям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111496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люди · организации · места · даты · количества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5541264"/>
            <a:ext cx="5486400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566013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01F20"/>
                </a:solidFill>
                <a:latin typeface="Barlow Condensed"/>
              </a:rPr>
              <a:t>Полный текст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961888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постранично и целиком, с источником и уверенностью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06 —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ПРОВЕРКА И ДОВЕРИЕ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ПОСЛЕДНЕЕ СЛОВО — ЗА АРХИВИСТОМ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551383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c_ve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212848"/>
            <a:ext cx="468256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212848"/>
            <a:ext cx="5257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Любую сущность можно исправить прямо в карточке: опечатка в фамилии, пропущенная организация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Кнопка «Проверено» переводит документ в доверенный статус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Каждая правка записывается в журнал: кто, что и когда изменил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Проверенные документы защищены: массовая переобработка их не трогает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Исправления накапливаются как эталон — на них система дообучается под ваш фонд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349240"/>
            <a:ext cx="5257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598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0F85"/>
                </a:solidFill>
                <a:latin typeface="Barlow Condensed"/>
              </a:rPr>
              <a:t>ИИ ПРЕДЛАГАЕТ — ЧЕЛОВЕК УТВЕРЖДАЕТ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52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3C5C7A"/>
                </a:solidFill>
                <a:latin typeface="Barlow"/>
              </a:rPr>
              <a:t>Ни одна запись не попадает в фонд как «истина» без подтверждения сотрудника.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07 —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08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СЕМАНТИЧЕСКИЙ ПОИСК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ПОИСК ПО СМЫСЛУ, А НЕ ПО БУКВАМ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67208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12848"/>
            <a:ext cx="6446520" cy="2377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4892040"/>
            <a:ext cx="6720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earch_re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6446520" cy="14101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224028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Запрос обычными словами: «что-нибудь о кулачестве» находит приказ о ликвидации кулачества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Работает на русском и казахском, в том числе на старых написаниях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У каждого результата — оценка релевантности; слабые совпадения отсекаются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История запросов у каждого сотрудника своя: можно вернуться к прошлому поиску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FIG. 08 — ОТЛИЧИЕ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09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FFFFF"/>
                </a:solidFill>
                <a:latin typeface="Barlow Condensed"/>
              </a:rPr>
              <a:t>АССИСТЕНТ-ИССЛЕДОВАТЕЛЬ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arlow Condensed"/>
              </a:rPr>
              <a:t>ВОПРОС АРХИВУ — ОТВЕТ СО ССЫЛКАМИ</a:t>
            </a:r>
          </a:p>
        </p:txBody>
      </p:sp>
      <p:pic>
        <p:nvPicPr>
          <p:cNvPr id="10" name="Picture 9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6263640" cy="3678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23760" y="2286000"/>
            <a:ext cx="4434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Обычный вопрос вместо запроса: «Кто и кому писал о юбилейных мероприятиях?»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Ответ составляется только по вашим документам — каждая мысль подкреплена ссылкой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Клик по ссылке открывает документ-первоисточник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Если ответа в фонде нет, ассистент прямо об этом говорит и не выдумывает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E8ECF4"/>
                </a:solidFill>
                <a:latin typeface="Barlow"/>
              </a:rPr>
              <a:t>Диалог помнит контекст: вопрос можно уточнять дальше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5623560"/>
            <a:ext cx="4434840" cy="777240"/>
          </a:xfrm>
          <a:prstGeom prst="rect">
            <a:avLst/>
          </a:prstGeom>
          <a:noFill/>
          <a:ln w="9525">
            <a:solidFill>
              <a:srgbClr val="598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576072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Barlow"/>
              </a:rPr>
              <a:t>У показанной ранее системы этого нет:</a:t>
            </a:r>
          </a:p>
          <a:p>
            <a:pPr algn="l">
              <a:lnSpc>
                <a:spcPts val="1500"/>
              </a:lnSpc>
            </a:pPr>
            <a:r>
              <a:rPr sz="1150" b="1" i="0">
                <a:solidFill>
                  <a:srgbClr val="FFFFFF"/>
                </a:solidFill>
                <a:latin typeface="Barlow"/>
              </a:rPr>
              <a:t>её поиск возвращает только список документов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FIG. 09 — ОТЛИЧИЕ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FFFFF"/>
                </a:solidFill>
                <a:latin typeface="Barlow Condensed"/>
              </a:rPr>
              <a:t>АГЕНТ · ФЛАГМАН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arlow Condensed"/>
              </a:rPr>
              <a:t>НАСТРОЙКА СИСТЕМЫ ОБЫЧНЫМИ СЛОВАМИ</a:t>
            </a:r>
          </a:p>
        </p:txBody>
      </p:sp>
      <p:pic>
        <p:nvPicPr>
          <p:cNvPr id="10" name="Picture 9" descr="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40280"/>
            <a:ext cx="6355080" cy="58921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69480" y="22402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5980A6"/>
                </a:solidFill>
                <a:latin typeface="Barlow Condensed"/>
              </a:rPr>
              <a:t>СКАЖИТЕ — И СИСТЕМА ПЕРЕСТРОИТСЯ: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651760"/>
            <a:ext cx="4389120" cy="603504"/>
          </a:xfrm>
          <a:prstGeom prst="rect">
            <a:avLst/>
          </a:prstGeom>
          <a:noFill/>
          <a:ln w="9525">
            <a:solidFill>
              <a:srgbClr val="2A3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2743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«Добавь тип документа „протокол“</a:t>
            </a:r>
          </a:p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и переклассифицируй архив»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3364991"/>
            <a:ext cx="4389120" cy="603504"/>
          </a:xfrm>
          <a:prstGeom prst="rect">
            <a:avLst/>
          </a:prstGeom>
          <a:noFill/>
          <a:ln w="9525">
            <a:solidFill>
              <a:srgbClr val="2A3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34564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«Добавь виджет: динамика приказов по годам»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4078224"/>
            <a:ext cx="4389120" cy="603504"/>
          </a:xfrm>
          <a:prstGeom prst="rect">
            <a:avLst/>
          </a:prstGeom>
          <a:noFill/>
          <a:ln w="9525">
            <a:solidFill>
              <a:srgbClr val="2A3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4169663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«Сделай поиск более смысловым»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4791456"/>
            <a:ext cx="4389120" cy="603504"/>
          </a:xfrm>
          <a:prstGeom prst="rect">
            <a:avLst/>
          </a:prstGeom>
          <a:noFill/>
          <a:ln w="9525">
            <a:solidFill>
              <a:srgbClr val="2A3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48828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100" b="0" i="0">
                <a:solidFill>
                  <a:srgbClr val="E8ECF4"/>
                </a:solidFill>
                <a:latin typeface="Barlow"/>
              </a:rPr>
              <a:t>«Слей дубликаты персоналий»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577840"/>
            <a:ext cx="4389120" cy="868680"/>
          </a:xfrm>
          <a:prstGeom prst="rect">
            <a:avLst/>
          </a:prstGeom>
          <a:noFill/>
          <a:ln w="9525">
            <a:solidFill>
              <a:srgbClr val="598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5687568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 i="0">
                <a:solidFill>
                  <a:srgbClr val="D5DCE8"/>
                </a:solidFill>
                <a:latin typeface="Barlow"/>
              </a:rPr>
              <a:t>Безопасно по построению: модель не имеет доступа к базе — она лишь предлагает изменение. База проверяет его по правилам, применяет и записывает в журнал.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10 —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СУЩНОСТИ И СВЯЗИ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СВЯЗИ ЛЮДЕЙ, ОРГАНИЗАЦИЙ И МЕСТ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70408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nt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12848"/>
            <a:ext cx="6803136" cy="4315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2240280"/>
            <a:ext cx="37947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Одна персона — одна карточка: разные написания фамилии сводятся автоматически, старые сохраняются как псевдонимы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Граф показывает, кто встречается в одних и тех же делах — связи, которые вручную не увидеть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От сущности — переход ко всем её документам</a:t>
            </a:r>
          </a:p>
          <a:p>
            <a:pPr>
              <a:lnSpc>
                <a:spcPts val="2000"/>
              </a:lnSpc>
              <a:spcAft>
                <a:spcPts val="900"/>
              </a:spcAft>
            </a:pPr>
            <a:r>
              <a:rPr sz="1350">
                <a:solidFill>
                  <a:srgbClr val="5980A6"/>
                </a:solidFill>
                <a:latin typeface="Barlow"/>
              </a:rPr>
              <a:t>— </a:t>
            </a:r>
            <a:r>
              <a:rPr sz="1350">
                <a:solidFill>
                  <a:srgbClr val="101F20"/>
                </a:solidFill>
                <a:latin typeface="Barlow"/>
              </a:rPr>
              <a:t>Выгрузка списка сущностей в CSV для отчётов и описей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11 —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АНАЛИТИКА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СОСТОЯНИЕ ФОНДА И ХРАНИЛИЩА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76809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12848"/>
            <a:ext cx="7443216" cy="41286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58200" y="224028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Сколько документов обработано, сколько персоналий и организаций найдено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Распределение по типам, языкам, хронологии фонда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Все цифры считаются из одного источника — они не расходятся между экранами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Датчики хранилища: температура и влажность в реальном времени, с нормами и историей за сутки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Любой ваш датчик шлёт данные на один адрес — виджет появляется сам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12 —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УЧЁТ И КОНТРОЛЬ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КТО, ЧТО И КОГДА СМОТРЕЛ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03120"/>
            <a:ext cx="747979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212848"/>
            <a:ext cx="4535035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240280"/>
            <a:ext cx="3429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Каждый вход — с адресом и временем, включая неудачные попытки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Каждый поиск и каждое открытие документа фиксируются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Видно, какие дела востребованы и кто из сотрудников сейчас работает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Права: администратор ведёт справочники, исследователь работает с фондом</a:t>
            </a:r>
          </a:p>
          <a:p>
            <a:pPr>
              <a:lnSpc>
                <a:spcPts val="17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Готово к подключению вашей единой авторизации (SSO)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13 — СХЕМА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ИНТЕГРАЦИЯ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НУЖНЫ ТОЛЬКО ВАШЕ ХРАНИЛИЩЕ И БАЗА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32918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700" b="1" i="0">
                <a:solidFill>
                  <a:srgbClr val="101F20"/>
                </a:solidFill>
                <a:latin typeface="Barlow Condensed"/>
              </a:rPr>
              <a:t>Ваше файловое</a:t>
            </a:r>
          </a:p>
          <a:p>
            <a:pPr algn="ctr">
              <a:lnSpc>
                <a:spcPts val="2100"/>
              </a:lnSpc>
            </a:pPr>
            <a:r>
              <a:rPr sz="1700" b="1" i="0">
                <a:solidFill>
                  <a:srgbClr val="101F20"/>
                </a:solidFill>
                <a:latin typeface="Barlow Condensed"/>
              </a:rPr>
              <a:t>хранилище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сканы как есть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2514600"/>
            <a:ext cx="3291840" cy="178308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78892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700" b="1" i="0">
                <a:solidFill>
                  <a:srgbClr val="FFFFFF"/>
                </a:solidFill>
                <a:latin typeface="Barlow Condensed"/>
              </a:rPr>
              <a:t>ArchivAI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35661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100" b="0" i="0">
                <a:solidFill>
                  <a:srgbClr val="B9C4D6"/>
                </a:solidFill>
                <a:latin typeface="Barlow"/>
              </a:rPr>
              <a:t>распознавание, извлечение,</a:t>
            </a:r>
          </a:p>
          <a:p>
            <a:pPr algn="ctr">
              <a:lnSpc>
                <a:spcPts val="1400"/>
              </a:lnSpc>
            </a:pPr>
            <a:r>
              <a:rPr sz="1100" b="0" i="0">
                <a:solidFill>
                  <a:srgbClr val="B9C4D6"/>
                </a:solidFill>
                <a:latin typeface="Barlow"/>
              </a:rPr>
              <a:t>поиск, проверка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6" y="2514600"/>
            <a:ext cx="32918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86216" y="2788920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700" b="1" i="0">
                <a:solidFill>
                  <a:srgbClr val="101F20"/>
                </a:solidFill>
                <a:latin typeface="Barlow Condensed"/>
              </a:rPr>
              <a:t>Ваша база</a:t>
            </a:r>
          </a:p>
          <a:p>
            <a:pPr algn="ctr">
              <a:lnSpc>
                <a:spcPts val="2100"/>
              </a:lnSpc>
            </a:pPr>
            <a:r>
              <a:rPr sz="1700" b="1" i="0">
                <a:solidFill>
                  <a:srgbClr val="101F20"/>
                </a:solidFill>
                <a:latin typeface="Barlow Condensed"/>
              </a:rPr>
              <a:t>и учётная система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6216" y="35661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sz="1100" b="0" i="0">
                <a:solidFill>
                  <a:srgbClr val="6B7072"/>
                </a:solidFill>
                <a:latin typeface="Barlow"/>
              </a:rPr>
              <a:t>структурированные данные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7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3200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980A6"/>
                </a:solidFill>
                <a:latin typeface="Barlow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348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000" b="0" i="0">
                <a:solidFill>
                  <a:srgbClr val="6B7072"/>
                </a:solidFill>
                <a:latin typeface="Barlow"/>
              </a:rPr>
              <a:t>забор пачками,</a:t>
            </a:r>
          </a:p>
          <a:p>
            <a:pPr algn="ctr">
              <a:lnSpc>
                <a:spcPts val="1200"/>
              </a:lnSpc>
            </a:pPr>
            <a:r>
              <a:rPr sz="1000" b="0" i="0">
                <a:solidFill>
                  <a:srgbClr val="6B7072"/>
                </a:solidFill>
                <a:latin typeface="Barlow"/>
              </a:rPr>
              <a:t>каждые 5 минут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4348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000" b="0" i="0">
                <a:solidFill>
                  <a:srgbClr val="6B7072"/>
                </a:solidFill>
                <a:latin typeface="Barlow"/>
              </a:rPr>
              <a:t>выгрузка результатов</a:t>
            </a:r>
          </a:p>
          <a:p>
            <a:pPr algn="ctr">
              <a:lnSpc>
                <a:spcPts val="1200"/>
              </a:lnSpc>
            </a:pPr>
            <a:r>
              <a:rPr sz="1000" b="0" i="0">
                <a:solidFill>
                  <a:srgbClr val="6B7072"/>
                </a:solidFill>
                <a:latin typeface="Barlow"/>
              </a:rPr>
              <a:t>с повторами при сбое связи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66360"/>
            <a:ext cx="3520440" cy="9525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Разворачивание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05272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один сервер у вас: локально или в частном облаке нужной юрисдикции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53127" y="5166360"/>
            <a:ext cx="3520440" cy="9525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7" y="53035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Никаких внешних сервисов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5605272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ни один документ не покидает ваш контур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7615" y="5166360"/>
            <a:ext cx="3520440" cy="9525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5" y="53035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01F20"/>
                </a:solidFill>
                <a:latin typeface="Barlow Condensed"/>
              </a:rPr>
              <a:t>Совместимость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5605272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работает поверх существующего хранилища и старой учётной системы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14 — ИЗМЕРЕНИЕ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КАЧЕСТВО РАСПОЗНАВАНИЯ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ТОЧНОСТЬ МЫ ИЗМЕРЯЕМ, А НЕ ОБЕЩАЕМ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2148840"/>
          <a:ext cx="6858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89788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"/>
              </a:lnSpc>
            </a:pPr>
            <a:r>
              <a:rPr sz="1050" b="0" i="1">
                <a:solidFill>
                  <a:srgbClr val="6B7072"/>
                </a:solidFill>
                <a:latin typeface="Barlow"/>
              </a:rPr>
              <a:t>Доля ошибочных символов на реальном листе фонда (стенограмма 1931 г.); меньше — лучше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240280"/>
            <a:ext cx="397763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6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Эталонный набор: страницы вашего фонда с выверенной вручную расшифровкой</a:t>
            </a:r>
          </a:p>
          <a:p>
            <a:pPr>
              <a:lnSpc>
                <a:spcPts val="16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Настройка принимается, только если ошибка уменьшилась — не «на глаз»</a:t>
            </a:r>
          </a:p>
          <a:p>
            <a:pPr>
              <a:lnSpc>
                <a:spcPts val="16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Сделано: подавление цветных правок и печатей, выравнивание перекоса, словарь эпохи, отсев ложных букв</a:t>
            </a:r>
          </a:p>
          <a:p>
            <a:pPr>
              <a:lnSpc>
                <a:spcPts val="1600"/>
              </a:lnSpc>
              <a:spcAft>
                <a:spcPts val="900"/>
              </a:spcAft>
            </a:pPr>
            <a:r>
              <a:rPr sz="1200">
                <a:solidFill>
                  <a:srgbClr val="5980A6"/>
                </a:solidFill>
                <a:latin typeface="Barlow"/>
              </a:rPr>
              <a:t>— </a:t>
            </a:r>
            <a:r>
              <a:rPr sz="1200">
                <a:solidFill>
                  <a:srgbClr val="101F20"/>
                </a:solidFill>
                <a:latin typeface="Barlow"/>
              </a:rPr>
              <a:t>−36% ошибок на этом листе за один вечер работы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5120640"/>
            <a:ext cx="3977639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598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528523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00F85"/>
                </a:solidFill>
                <a:latin typeface="Barlow Condensed"/>
              </a:rPr>
              <a:t>ЧТО ДАСТ ДАЛЬНЕЙШИЙ РОСТ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596128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0" i="0">
                <a:solidFill>
                  <a:srgbClr val="3C5C7A"/>
                </a:solidFill>
                <a:latin typeface="Barlow"/>
              </a:rPr>
              <a:t>Качественный скан 300 dpi вместо фотографии и видеокарта на сервере: под них у системы уже есть готовый режим работы.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15 — СВОДКА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СРАВНЕНИЕ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ЧТО ВЫ ПОЛУЧАЕТЕ СВЕРХ ПОКАЗАННОГО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20">
                <a:solidFill>
                  <a:srgbClr val="6B7072"/>
                </a:solidFill>
                <a:latin typeface="Barlow Condensed"/>
              </a:rPr>
              <a:t>ВОЗМОЖНОСТЬ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6B7072"/>
                </a:solidFill>
                <a:latin typeface="Barlow Condensed"/>
              </a:rPr>
              <a:t>ПОКАЗАННАЯ РАНЕЕ СИСТЕМА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000F85"/>
                </a:solidFill>
                <a:latin typeface="Barlow Condensed"/>
              </a:rPr>
              <a:t>ARCHIVAI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51176"/>
            <a:ext cx="11091672" cy="9525"/>
          </a:xfrm>
          <a:prstGeom prst="rect">
            <a:avLst/>
          </a:prstGeom>
          <a:solidFill>
            <a:srgbClr val="10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42616"/>
            <a:ext cx="1109167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3405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01F20"/>
                </a:solidFill>
                <a:latin typeface="Barlow"/>
              </a:rPr>
              <a:t>Ассистент с ответами по фонду и ссылками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3405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072"/>
                </a:solidFill>
                <a:latin typeface="Barlow"/>
              </a:rPr>
              <a:t>нет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73405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00F85"/>
                </a:solidFill>
                <a:latin typeface="Barlow Condensed"/>
              </a:rPr>
              <a:t>работает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8269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01F20"/>
                </a:solidFill>
                <a:latin typeface="Barlow"/>
              </a:rPr>
              <a:t>Настройка обычными словами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8269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072"/>
                </a:solidFill>
                <a:latin typeface="Barlow"/>
              </a:rPr>
              <a:t>обещано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8269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00F85"/>
                </a:solidFill>
                <a:latin typeface="Barlow Condensed"/>
              </a:rPr>
              <a:t>работает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39896"/>
            <a:ext cx="1109167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3133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01F20"/>
                </a:solidFill>
                <a:latin typeface="Barlow"/>
              </a:rPr>
              <a:t>Своды персоналий без дублей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313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072"/>
                </a:solidFill>
                <a:latin typeface="Barlow"/>
              </a:rPr>
              <a:t>дубли остаются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83133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00F85"/>
                </a:solidFill>
                <a:latin typeface="Barlow Condensed"/>
              </a:rPr>
              <a:t>сводятся автоматически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7997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01F20"/>
                </a:solidFill>
                <a:latin typeface="Barlow"/>
              </a:rPr>
              <a:t>Цифры на дашборде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37997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072"/>
                </a:solidFill>
                <a:latin typeface="Barlow"/>
              </a:rPr>
              <a:t>расходятся между экранами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37997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00F85"/>
                </a:solidFill>
                <a:latin typeface="Barlow Condensed"/>
              </a:rPr>
              <a:t>один источник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37176"/>
            <a:ext cx="1109167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92861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01F20"/>
                </a:solidFill>
                <a:latin typeface="Barlow"/>
              </a:rPr>
              <a:t>Происхождение и уверенность данных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2861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072"/>
                </a:solidFill>
                <a:latin typeface="Barlow"/>
              </a:rPr>
              <a:t>нет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92861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00F85"/>
                </a:solidFill>
                <a:latin typeface="Barlow Condensed"/>
              </a:rPr>
              <a:t>по каждому документу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7725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01F20"/>
                </a:solidFill>
                <a:latin typeface="Barlow"/>
              </a:rPr>
              <a:t>Измеримое качество распознавания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47725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072"/>
                </a:solidFill>
                <a:latin typeface="Barlow"/>
              </a:rPr>
              <a:t>не показано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47725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00F85"/>
                </a:solidFill>
                <a:latin typeface="Barlow Condensed"/>
              </a:rPr>
              <a:t>эталон и метрика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934456"/>
            <a:ext cx="1109167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02589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01F20"/>
                </a:solidFill>
                <a:latin typeface="Barlow"/>
              </a:rPr>
              <a:t>Модели и код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602589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6B7072"/>
                </a:solidFill>
                <a:latin typeface="Barlow"/>
              </a:rPr>
              <a:t>закрытые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602589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>
                <a:solidFill>
                  <a:srgbClr val="000F85"/>
                </a:solidFill>
                <a:latin typeface="Barlow Condensed"/>
              </a:rPr>
              <a:t>открытые, заменяемые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65675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6B7072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FIG. 16 — ОСНОВА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6B7072"/>
                </a:solidFill>
                <a:latin typeface="Barlow Condensed"/>
              </a:rP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D8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101F20"/>
                </a:solidFill>
                <a:latin typeface="Barlow Condensed"/>
              </a:rPr>
              <a:t>ТЕХНОЛОГИЧЕСКАЯ ОСНОВА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F20"/>
                </a:solidFill>
                <a:latin typeface="Barlow Condensed"/>
              </a:rPr>
              <a:t>ОТКРЫТАЯ, ПРОВЕРЯЕМАЯ, ВАША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5000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Открытые модели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7432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Распознавание и извлечение — на свободных моделях. Никаких подписок и лимитов, никакой передачи документов наружу.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224028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224028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5000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Прозрачный конвейер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Каждый этап — видимый процесс, который можно посмотреть, повторить и изменить под ваш регламент.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616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Надёжное хранение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5488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Документы, тексты, сущности и поисковый индекс — в одной базе. Резервные копии — вашими стандартными средствами.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4251960"/>
            <a:ext cx="53492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4251960"/>
            <a:ext cx="384048" cy="384048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Barlow Condense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36168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1F20"/>
                </a:solidFill>
                <a:latin typeface="Barlow Condensed"/>
              </a:rPr>
              <a:t>Рост под нагрузку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75488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>
                <a:solidFill>
                  <a:srgbClr val="6B7072"/>
                </a:solidFill>
                <a:latin typeface="Barlow"/>
              </a:rPr>
              <a:t>На сервере с видеокартой точность и скорость растут без изменения системы: меняется только модель.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55080"/>
            <a:ext cx="11091672" cy="9525"/>
          </a:xfrm>
          <a:prstGeom prst="rect">
            <a:avLst/>
          </a:prstGeom>
          <a:solidFill>
            <a:srgbClr val="000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00F85"/>
                </a:solidFill>
                <a:latin typeface="Barlow Condensed"/>
              </a:rPr>
              <a:t>Разворачивание: на вашем сервере, в вашей сети, с вашими правилами доступа.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8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"/>
            <a:ext cx="151247" cy="15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27432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B9C4D6"/>
                </a:solidFill>
                <a:latin typeface="Barlow Condensed"/>
              </a:rPr>
              <a:t>JI STUDIO  —  ARCHIVAI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2743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FIG. 17 —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274320"/>
            <a:ext cx="1033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B9C4D6"/>
                </a:solidFill>
                <a:latin typeface="Barlow Condensed"/>
              </a:rPr>
              <a:t>18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66928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274320" cy="274320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rlow Condense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89611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20">
                <a:solidFill>
                  <a:srgbClr val="FFFFFF"/>
                </a:solidFill>
                <a:latin typeface="Barlow Condensed"/>
              </a:rPr>
              <a:t>СЛЕДУЮЩИЕ ШАГИ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arlow Condensed"/>
              </a:rPr>
              <a:t>КАК НАЧИНАЕМ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691640" cy="38404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FFFFF"/>
                </a:solidFill>
                <a:latin typeface="Barlow Condensed"/>
              </a:rPr>
              <a:t>1–2 НЕДЕЛИ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67712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arlow Condensed"/>
              </a:rPr>
              <a:t>Пилот на вашем фонде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651760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B9C4D6"/>
                </a:solidFill>
                <a:latin typeface="Barlow"/>
              </a:rPr>
              <a:t>Берём 200–500 сканов, настраиваем справочник типов под ваши регламенты, показываем результат на ваших документах.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10712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1691640" cy="38404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9359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FFFFF"/>
                </a:solidFill>
                <a:latin typeface="Barlow Condensed"/>
              </a:rPr>
              <a:t>3–4 НЕДЕЛИ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502152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arlow Condensed"/>
              </a:rPr>
              <a:t>Внедрение в контуре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886200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B9C4D6"/>
                </a:solidFill>
                <a:latin typeface="Barlow"/>
              </a:rPr>
              <a:t>Установка на ваш сервер, подключение хранилища и учётной системы, единая авторизация, обучение сотрудников.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45152"/>
            <a:ext cx="11091672" cy="9525"/>
          </a:xfrm>
          <a:prstGeom prst="rect">
            <a:avLst/>
          </a:prstGeom>
          <a:solidFill>
            <a:srgbClr val="2A3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691640" cy="384048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2803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20">
                <a:solidFill>
                  <a:srgbClr val="FFFFFF"/>
                </a:solidFill>
                <a:latin typeface="Barlow Condensed"/>
              </a:rPr>
              <a:t>ДАЛЬШЕ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736592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arlow Condensed"/>
              </a:rPr>
              <a:t>Развитие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120640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0" i="0">
                <a:solidFill>
                  <a:srgbClr val="B9C4D6"/>
                </a:solidFill>
                <a:latin typeface="Barlow"/>
              </a:rPr>
              <a:t>Дообучение на ваших проверенных документах, вырезка подписей и печатей, датчики хранилища, отчётность под ваши формы.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89320"/>
            <a:ext cx="11091672" cy="9525"/>
          </a:xfrm>
          <a:prstGeom prst="rect">
            <a:avLst/>
          </a:prstGeom>
          <a:solidFill>
            <a:srgbClr val="598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Barlow Condensed"/>
              </a:rPr>
              <a:t>Система уже работает: сегодня мы показываем не прототип, а готовый контур.</a:t>
            </a:r>
          </a:p>
        </p:txBody>
      </p:sp>
      <p:pic>
        <p:nvPicPr>
          <p:cNvPr id="27" name="Picture 26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6053328"/>
            <a:ext cx="1536192" cy="473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