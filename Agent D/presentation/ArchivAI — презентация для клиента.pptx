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ошибочных символов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Sheet1!$A$2:$A$6</c:f>
              <c:strCache>
                <c:ptCount val="5"/>
                <c:pt idx="0">
                  <c:v>Базовая
настройка</c:v>
                </c:pt>
                <c:pt idx="1">
                  <c:v>Режим
страницы</c:v>
                </c:pt>
                <c:pt idx="2">
                  <c:v>Без жёсткой
бинаризации</c:v>
                </c:pt>
                <c:pt idx="3">
                  <c:v>Оптимальная
связка</c:v>
                </c:pt>
                <c:pt idx="4">
                  <c:v>+ фильтр
языка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0.309</c:v>
                </c:pt>
                <c:pt idx="1">
                  <c:v>0.296</c:v>
                </c:pt>
                <c:pt idx="2">
                  <c:v>0.219</c:v>
                </c:pt>
                <c:pt idx="3">
                  <c:v>0.202</c:v>
                </c:pt>
                <c:pt idx="4">
                  <c:v>0.198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100" b="1">
                  <a:solidFill>
                    <a:srgbClr val="0F172A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6"/>
          <c:min val="0.0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</a:p>
        </c:txPr>
        <c:crossAx val="-2068027336"/>
        <c:crosses val="autoZero"/>
        <c:majorUnit val="0.1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Титул. Тезис: это работающая система, а не концепт — дальше живые экраны.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Боли клиента. Последний пункт подводит к on-prem и открытым моделям.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Ключевая мысль: конвейер прозрачен и расширяем, модели меняются как детали.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Связка с их файловым хранилищем: системе нужны только хранилище и база.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Статус обработки виден сразу, ошибки не теряются.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Резюме и поля извлекаются автоматически — экономия часов описания.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Ответ на главный страх архива: ИИ ничего не портит и не решает за людей.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Разница с поиском по подстроке — это клиент просил явно.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Дифференциатор №1. У конкурента это только пожелание клиента, у нас работает.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Дифференциатор №2. Конкурент это только обещал — «поэтому продукт и назван Agent D».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Наше преимущество: у конкурента дубликаты «Абай» / «Абай Кунанбаев» живут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IoT-виджет — прямой запрос клиента на демо конкурента.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Ответ на «compliance»: журнал, адреса, востребованность документов.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Минимальный след: не заменяем инфраструктуру, а подключаемся к ней.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Честный слайд: метрика и путь роста. Архивисты ценят измеримость.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Конкурента по имени в раздатке не называем — «показанная ранее система».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Без жаргона: открыто, воспроизводимо и остаётся у клиента.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Закрытие: предложить пилот на их собственных документах.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7315200" cy="10972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5800" b="1">
                <a:solidFill>
                  <a:srgbClr val="FFFFFF"/>
                </a:solidFill>
                <a:latin typeface="Calibri"/>
              </a:rPr>
              <a:t>Archiv</a:t>
            </a:r>
            <a:r>
              <a:rPr sz="5800" b="1">
                <a:solidFill>
                  <a:srgbClr val="F97316"/>
                </a:solidFill>
                <a:latin typeface="Calibri"/>
              </a:rPr>
              <a:t>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97180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CBD5E1"/>
                </a:solidFill>
                <a:latin typeface="Calibri"/>
              </a:rPr>
              <a:t>Искусственный интеллект для исторического архива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49039"/>
            <a:ext cx="9509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>
                <a:solidFill>
                  <a:srgbClr val="94A3B8"/>
                </a:solidFill>
                <a:latin typeface="Calibri"/>
              </a:rPr>
              <a:t>Сканы → распознанный текст, структурированные поля, связи между людьми и организациями,</a:t>
            </a:r>
          </a:p>
          <a:p>
            <a:pPr algn="l">
              <a:lnSpc>
                <a:spcPts val="2100"/>
              </a:lnSpc>
            </a:pPr>
            <a:r>
              <a:rPr sz="1500" b="0" i="0">
                <a:solidFill>
                  <a:srgbClr val="94A3B8"/>
                </a:solidFill>
                <a:latin typeface="Calibri"/>
              </a:rPr>
              <a:t>семантический поиск и проверка человеком.</a:t>
            </a:r>
          </a:p>
          <a:p>
            <a:pPr algn="l">
              <a:lnSpc>
                <a:spcPts val="2100"/>
              </a:lnSpc>
            </a:pPr>
            <a:r>
              <a:rPr sz="1500" b="0" i="0">
                <a:solidFill>
                  <a:srgbClr val="94A3B8"/>
                </a:solidFill>
                <a:latin typeface="Calibri"/>
              </a:rPr>
              <a:t>Полностью на открытых моделях, на вашем оборудовании.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257800"/>
            <a:ext cx="2331720" cy="457200"/>
          </a:xfrm>
          <a:prstGeom prst="roundRect">
            <a:avLst>
              <a:gd name="adj" fmla="val 6000"/>
            </a:avLst>
          </a:prstGeom>
          <a:solidFill>
            <a:srgbClr val="1B2B45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5367528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Открытый код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5257800"/>
            <a:ext cx="2331720" cy="457200"/>
          </a:xfrm>
          <a:prstGeom prst="roundRect">
            <a:avLst>
              <a:gd name="adj" fmla="val 6000"/>
            </a:avLst>
          </a:prstGeom>
          <a:solidFill>
            <a:srgbClr val="1B2B45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337560" y="5367528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On-premise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5257800"/>
            <a:ext cx="2331720" cy="457200"/>
          </a:xfrm>
          <a:prstGeom prst="roundRect">
            <a:avLst>
              <a:gd name="adj" fmla="val 6000"/>
            </a:avLst>
          </a:prstGeom>
          <a:solidFill>
            <a:srgbClr val="1B2B45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852160" y="5367528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Русский + қазақша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5257800"/>
            <a:ext cx="2331720" cy="457200"/>
          </a:xfrm>
          <a:prstGeom prst="roundRect">
            <a:avLst>
              <a:gd name="adj" fmla="val 6000"/>
            </a:avLst>
          </a:prstGeom>
          <a:solidFill>
            <a:srgbClr val="1B2B45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366760" y="5367528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Без облаков и подписок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  <a:latin typeface="Calibri"/>
              </a:rPr>
              <a:t>ЗАДАЧА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0F172A"/>
                </a:solidFill>
                <a:latin typeface="Calibri"/>
              </a:rPr>
              <a:t>Что мешает работать с фондом сегодня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6675120" cy="969264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77240" y="1901952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792224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Документы не ищутся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10312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Скан — это картинка. Найти дело можно только по описи и памяти сотрудника.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79776"/>
            <a:ext cx="6675120" cy="969264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77240" y="3035808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926080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Связи не видны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236976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Кто с кем переписывался, где упоминается человек — собирается вручную, месяцами.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13632"/>
            <a:ext cx="6675120" cy="969264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77240" y="4169664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059936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Ручная опись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370832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Тип, дата, отправитель, получатель, персоналии — всё вносится руками.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47488"/>
            <a:ext cx="6675120" cy="969264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777240" y="5303520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19379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Данные должны остаться у вас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504688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Облачные сервисы и передача фонда наружу — неприемлемы.</a:t>
            </a:r>
          </a:p>
        </p:txBody>
      </p:sp>
      <p:pic>
        <p:nvPicPr>
          <p:cNvPr id="20" name="Picture 19" descr="scan_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645920"/>
            <a:ext cx="2788920" cy="418756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635240" y="59436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 i="1">
                <a:solidFill>
                  <a:srgbClr val="64748B"/>
                </a:solidFill>
                <a:latin typeface="Calibri"/>
              </a:rPr>
              <a:t>Типовой лист фонда: машинопись, правки от руки, печать, пожелтевшая бумага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  <a:latin typeface="Calibri"/>
              </a:rPr>
              <a:t>КАК ЭТО РАБОТАЕТ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0F172A"/>
                </a:solidFill>
                <a:latin typeface="Calibri"/>
              </a:rPr>
              <a:t>От скана до знания — за один проход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1700784" cy="22402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124712" y="2057400"/>
            <a:ext cx="548640" cy="548640"/>
          </a:xfrm>
          <a:prstGeom prst="ellipse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74320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0F172A"/>
                </a:solidFill>
                <a:latin typeface="Calibri"/>
              </a:rPr>
              <a:t>Приём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3072384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sz="1050" b="0" i="0">
                <a:solidFill>
                  <a:srgbClr val="64748B"/>
                </a:solidFill>
                <a:latin typeface="Calibri"/>
              </a:rPr>
              <a:t>загрузка или забор</a:t>
            </a:r>
          </a:p>
          <a:p>
            <a:pPr algn="ctr">
              <a:lnSpc>
                <a:spcPts val="1400"/>
              </a:lnSpc>
            </a:pPr>
            <a:r>
              <a:rPr sz="1050" b="0" i="0">
                <a:solidFill>
                  <a:srgbClr val="64748B"/>
                </a:solidFill>
                <a:latin typeface="Calibri"/>
              </a:rPr>
              <a:t>из вашего хранилища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761488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F97316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2304" y="1874519"/>
            <a:ext cx="1700784" cy="22402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3008376" y="2057400"/>
            <a:ext cx="548640" cy="548640"/>
          </a:xfrm>
          <a:prstGeom prst="ellipse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5456" y="274320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0F172A"/>
                </a:solidFill>
                <a:latin typeface="Calibri"/>
              </a:rPr>
              <a:t>Распознавание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5456" y="3072384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sz="1050" b="0" i="0">
                <a:solidFill>
                  <a:srgbClr val="64748B"/>
                </a:solidFill>
                <a:latin typeface="Calibri"/>
              </a:rPr>
              <a:t>печатный и рукописный</a:t>
            </a:r>
          </a:p>
          <a:p>
            <a:pPr algn="ctr">
              <a:lnSpc>
                <a:spcPts val="1400"/>
              </a:lnSpc>
            </a:pPr>
            <a:r>
              <a:rPr sz="1050" b="0" i="0">
                <a:solidFill>
                  <a:srgbClr val="64748B"/>
                </a:solidFill>
                <a:latin typeface="Calibri"/>
              </a:rPr>
              <a:t>текст, RU + KZ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78224" y="2761488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F97316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874519"/>
            <a:ext cx="1700784" cy="22402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4892040" y="2057400"/>
            <a:ext cx="548640" cy="548640"/>
          </a:xfrm>
          <a:prstGeom prst="ellipse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74320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0F172A"/>
                </a:solidFill>
                <a:latin typeface="Calibri"/>
              </a:rPr>
              <a:t>Извлечение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072384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sz="1050" b="0" i="0">
                <a:solidFill>
                  <a:srgbClr val="64748B"/>
                </a:solidFill>
                <a:latin typeface="Calibri"/>
              </a:rPr>
              <a:t>тип, дата, отправитель,</a:t>
            </a:r>
          </a:p>
          <a:p>
            <a:pPr algn="ctr">
              <a:lnSpc>
                <a:spcPts val="1400"/>
              </a:lnSpc>
            </a:pPr>
            <a:r>
              <a:rPr sz="1050" b="0" i="0">
                <a:solidFill>
                  <a:srgbClr val="64748B"/>
                </a:solidFill>
                <a:latin typeface="Calibri"/>
              </a:rPr>
              <a:t>получатель, резюме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1888" y="2761488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F97316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1" y="1874519"/>
            <a:ext cx="1700784" cy="22402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775703" y="2057400"/>
            <a:ext cx="548640" cy="548640"/>
          </a:xfrm>
          <a:prstGeom prst="ellipse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2783" y="274320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0F172A"/>
                </a:solidFill>
                <a:latin typeface="Calibri"/>
              </a:rPr>
              <a:t>Сущности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3" y="3072384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sz="1050" b="0" i="0">
                <a:solidFill>
                  <a:srgbClr val="64748B"/>
                </a:solidFill>
                <a:latin typeface="Calibri"/>
              </a:rPr>
              <a:t>люди, организации,</a:t>
            </a:r>
          </a:p>
          <a:p>
            <a:pPr algn="ctr">
              <a:lnSpc>
                <a:spcPts val="1400"/>
              </a:lnSpc>
            </a:pPr>
            <a:r>
              <a:rPr sz="1050" b="0" i="0">
                <a:solidFill>
                  <a:srgbClr val="64748B"/>
                </a:solidFill>
                <a:latin typeface="Calibri"/>
              </a:rPr>
              <a:t>места, даты, количества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5552" y="2761488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F97316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83296" y="1874519"/>
            <a:ext cx="1700784" cy="22402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659368" y="2057400"/>
            <a:ext cx="548640" cy="548640"/>
          </a:xfrm>
          <a:prstGeom prst="ellipse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6448" y="274320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0F172A"/>
                </a:solidFill>
                <a:latin typeface="Calibri"/>
              </a:rPr>
              <a:t>Индексация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6448" y="3072384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sz="1050" b="0" i="0">
                <a:solidFill>
                  <a:srgbClr val="64748B"/>
                </a:solidFill>
                <a:latin typeface="Calibri"/>
              </a:rPr>
              <a:t>поиск по смыслу,</a:t>
            </a:r>
          </a:p>
          <a:p>
            <a:pPr algn="ctr">
              <a:lnSpc>
                <a:spcPts val="1400"/>
              </a:lnSpc>
            </a:pPr>
            <a:r>
              <a:rPr sz="1050" b="0" i="0">
                <a:solidFill>
                  <a:srgbClr val="64748B"/>
                </a:solidFill>
                <a:latin typeface="Calibri"/>
              </a:rPr>
              <a:t>а не по буквам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9216" y="2761488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F97316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66960" y="1874519"/>
            <a:ext cx="1700784" cy="22402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10543032" y="2057400"/>
            <a:ext cx="548640" cy="548640"/>
          </a:xfrm>
          <a:prstGeom prst="ellipse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0112" y="274320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0F172A"/>
                </a:solidFill>
                <a:latin typeface="Calibri"/>
              </a:rPr>
              <a:t>Проверка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40112" y="3072384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sz="1050" b="0" i="0">
                <a:solidFill>
                  <a:srgbClr val="64748B"/>
                </a:solidFill>
                <a:latin typeface="Calibri"/>
              </a:rPr>
              <a:t>правка человеком</a:t>
            </a:r>
          </a:p>
          <a:p>
            <a:pPr algn="ctr">
              <a:lnSpc>
                <a:spcPts val="1400"/>
              </a:lnSpc>
            </a:pPr>
            <a:r>
              <a:rPr sz="1050" b="0" i="0">
                <a:solidFill>
                  <a:srgbClr val="64748B"/>
                </a:solidFill>
                <a:latin typeface="Calibri"/>
              </a:rPr>
              <a:t>и статус «проверено»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68680" y="475488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Каждый этап — отдельный видимый процесс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084064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Модель распознавания, правила извлечения, набор типов документов можно заменить или дополнить без переписывания системы. Ничего не «зашито» в чёрный ящик: любой шаг открывается, повторяется и настраивается под ваш фонд.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  <a:latin typeface="Calibri"/>
              </a:rPr>
              <a:t>ПРИЁМ ДОКУМЕНТОВ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0F172A"/>
                </a:solidFill>
                <a:latin typeface="Calibri"/>
              </a:rPr>
              <a:t>Загрузка вручную — и забор пачками из хранилища</a:t>
            </a:r>
          </a:p>
        </p:txBody>
      </p:sp>
      <p:pic>
        <p:nvPicPr>
          <p:cNvPr id="4" name="Picture 3" descr="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583680" cy="37469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874519"/>
            <a:ext cx="41148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9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 Перетащите сканы в окно — или соберите многостраничное дело из нескольких файлов</a:t>
            </a:r>
          </a:p>
          <a:p>
            <a:pPr>
              <a:lnSpc>
                <a:spcPts val="2100"/>
              </a:lnSpc>
              <a:spcAft>
                <a:spcPts val="9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 Кнопка «Забрать из хранилища»: система сама берёт новые файлы — 50–100+ документов за раз</a:t>
            </a:r>
          </a:p>
          <a:p>
            <a:pPr>
              <a:lnSpc>
                <a:spcPts val="2100"/>
              </a:lnSpc>
              <a:spcAft>
                <a:spcPts val="9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 Автоматический забор каждые 5 минут: положили сканы в папку — они появились в архиве обработанными</a:t>
            </a:r>
          </a:p>
          <a:p>
            <a:pPr>
              <a:lnSpc>
                <a:spcPts val="2100"/>
              </a:lnSpc>
              <a:spcAft>
                <a:spcPts val="9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 Повторная заливка не создаёт дублей: уже обработанные файлы пропускаются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  <a:latin typeface="Calibri"/>
              </a:rPr>
              <a:t>АРХИВ ДОКУМЕНТОВ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0F172A"/>
                </a:solidFill>
                <a:latin typeface="Calibri"/>
              </a:rPr>
              <a:t>Весь фонд — в одной таблице</a:t>
            </a:r>
          </a:p>
        </p:txBody>
      </p:sp>
      <p:pic>
        <p:nvPicPr>
          <p:cNvPr id="4" name="Picture 3" descr="docu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11064240" cy="35224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440680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Статусы обработки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6072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обрабатывается · на проверке · проверено · ошибка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5440680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Фильтры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576072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по типу, языку, статусу, дате документа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5440680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Миниатюры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576072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виден сам скан, а не только имя файла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  <a:latin typeface="Calibri"/>
              </a:rPr>
              <a:t>КАРТОЧКА ДОКУМЕНТА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0F172A"/>
                </a:solidFill>
                <a:latin typeface="Calibri"/>
              </a:rPr>
              <a:t>Скан слева — извлечённые данные справа</a:t>
            </a:r>
          </a:p>
        </p:txBody>
      </p:sp>
      <p:pic>
        <p:nvPicPr>
          <p:cNvPr id="4" name="Picture 3" descr="doc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4425509" cy="466344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6126480" y="1892807"/>
            <a:ext cx="237744" cy="237744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7960" y="1828800"/>
            <a:ext cx="5074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Тип, дата, язык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2148840"/>
            <a:ext cx="5074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классификация по вашему справочнику типов</a:t>
            </a:r>
          </a:p>
        </p:txBody>
      </p:sp>
      <p:sp>
        <p:nvSpPr>
          <p:cNvPr id="8" name="Oval 7"/>
          <p:cNvSpPr/>
          <p:nvPr/>
        </p:nvSpPr>
        <p:spPr>
          <a:xfrm>
            <a:off x="6126480" y="2807208"/>
            <a:ext cx="237744" cy="237744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743200"/>
            <a:ext cx="5074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Отправитель и получатель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3063240"/>
            <a:ext cx="5074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с должностью и ролью, если они есть в тексте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0" y="3721608"/>
            <a:ext cx="237744" cy="237744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3657600"/>
            <a:ext cx="5074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Резюме документа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977639"/>
            <a:ext cx="5074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2–4 предложения на русском: суть дела без чтения листа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0" y="4636008"/>
            <a:ext cx="237744" cy="237744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4572000"/>
            <a:ext cx="5074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Сущности по 5 категориям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892040"/>
            <a:ext cx="5074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люди · организации · места · даты · количества</a:t>
            </a:r>
          </a:p>
        </p:txBody>
      </p:sp>
      <p:sp>
        <p:nvSpPr>
          <p:cNvPr id="17" name="Oval 16"/>
          <p:cNvSpPr/>
          <p:nvPr/>
        </p:nvSpPr>
        <p:spPr>
          <a:xfrm>
            <a:off x="6126480" y="5550408"/>
            <a:ext cx="237744" cy="237744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5486400"/>
            <a:ext cx="5074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Полный текст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5806440"/>
            <a:ext cx="5074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постранично и целиком, с источником и уверенностью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  <a:latin typeface="Calibri"/>
              </a:rPr>
              <a:t>ПРОВЕРКА И ДОВЕРИЕ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0F172A"/>
                </a:solidFill>
                <a:latin typeface="Calibri"/>
              </a:rPr>
              <a:t>Последнее слово — за архивистом</a:t>
            </a:r>
          </a:p>
        </p:txBody>
      </p:sp>
      <p:pic>
        <p:nvPicPr>
          <p:cNvPr id="4" name="Picture 3" descr="doc_verif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5254873" cy="4617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828800"/>
            <a:ext cx="53949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900"/>
              </a:spcAft>
            </a:pPr>
            <a:r>
              <a:rPr sz="1450">
                <a:solidFill>
                  <a:srgbClr val="0F172A"/>
                </a:solidFill>
                <a:latin typeface="Calibri"/>
              </a:rPr>
              <a:t>•  Любую сущность можно исправить прямо в карточке: опечатка в фамилии, пропущенная организация</a:t>
            </a:r>
          </a:p>
          <a:p>
            <a:pPr>
              <a:lnSpc>
                <a:spcPts val="2100"/>
              </a:lnSpc>
              <a:spcAft>
                <a:spcPts val="900"/>
              </a:spcAft>
            </a:pPr>
            <a:r>
              <a:rPr sz="1450">
                <a:solidFill>
                  <a:srgbClr val="0F172A"/>
                </a:solidFill>
                <a:latin typeface="Calibri"/>
              </a:rPr>
              <a:t>•  Кнопка «Проверено» переводит документ в доверенный статус</a:t>
            </a:r>
          </a:p>
          <a:p>
            <a:pPr>
              <a:lnSpc>
                <a:spcPts val="2100"/>
              </a:lnSpc>
              <a:spcAft>
                <a:spcPts val="900"/>
              </a:spcAft>
            </a:pPr>
            <a:r>
              <a:rPr sz="1450">
                <a:solidFill>
                  <a:srgbClr val="0F172A"/>
                </a:solidFill>
                <a:latin typeface="Calibri"/>
              </a:rPr>
              <a:t>•  Каждая правка записывается в журнал: кто, что и когда изменил</a:t>
            </a:r>
          </a:p>
          <a:p>
            <a:pPr>
              <a:lnSpc>
                <a:spcPts val="2100"/>
              </a:lnSpc>
              <a:spcAft>
                <a:spcPts val="900"/>
              </a:spcAft>
            </a:pPr>
            <a:r>
              <a:rPr sz="1450">
                <a:solidFill>
                  <a:srgbClr val="0F172A"/>
                </a:solidFill>
                <a:latin typeface="Calibri"/>
              </a:rPr>
              <a:t>•  Проверенные документы защищены: массовая переобработка их не трогает</a:t>
            </a:r>
          </a:p>
          <a:p>
            <a:pPr>
              <a:lnSpc>
                <a:spcPts val="2100"/>
              </a:lnSpc>
              <a:spcAft>
                <a:spcPts val="900"/>
              </a:spcAft>
            </a:pPr>
            <a:r>
              <a:rPr sz="1450">
                <a:solidFill>
                  <a:srgbClr val="0F172A"/>
                </a:solidFill>
                <a:latin typeface="Calibri"/>
              </a:rPr>
              <a:t>•  Исправления накапливаются как эталон — на них система дообучается под ваш фонд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257800"/>
            <a:ext cx="5394960" cy="105156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54406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59669"/>
                </a:solidFill>
                <a:latin typeface="Calibri"/>
              </a:rPr>
              <a:t>ИИ предлагает — человек утверждает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79008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047857"/>
                </a:solidFill>
                <a:latin typeface="Calibri"/>
              </a:rPr>
              <a:t>Ни одна запись не попадает в фонд как «истина» без подтверждения сотрудника.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  <a:latin typeface="Calibri"/>
              </a:rPr>
              <a:t>СЕМАНТИЧЕСКИЙ ПОИСК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0F172A"/>
                </a:solidFill>
                <a:latin typeface="Calibri"/>
              </a:rPr>
              <a:t>Поиск по смыслу, а не по буквам</a:t>
            </a:r>
          </a:p>
        </p:txBody>
      </p:sp>
      <p:pic>
        <p:nvPicPr>
          <p:cNvPr id="4" name="Picture 3" descr="search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6675120" cy="2461746"/>
          </a:xfrm>
          <a:prstGeom prst="rect">
            <a:avLst/>
          </a:prstGeom>
        </p:spPr>
      </p:pic>
      <p:pic>
        <p:nvPicPr>
          <p:cNvPr id="5" name="Picture 4" descr="search_re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34840"/>
            <a:ext cx="6675120" cy="14601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1874519"/>
            <a:ext cx="41148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9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 Запрос обычными словами: «что-нибудь о кулачестве» находит приказ о ликвидации кулачества</a:t>
            </a:r>
          </a:p>
          <a:p>
            <a:pPr>
              <a:lnSpc>
                <a:spcPts val="2100"/>
              </a:lnSpc>
              <a:spcAft>
                <a:spcPts val="9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 Работает на русском и казахском, в том числе на старых написаниях</a:t>
            </a:r>
          </a:p>
          <a:p>
            <a:pPr>
              <a:lnSpc>
                <a:spcPts val="2100"/>
              </a:lnSpc>
              <a:spcAft>
                <a:spcPts val="9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 У каждого результата — оценка релевантности; слабые совпадения отсекаются</a:t>
            </a:r>
          </a:p>
          <a:p>
            <a:pPr>
              <a:lnSpc>
                <a:spcPts val="2100"/>
              </a:lnSpc>
              <a:spcAft>
                <a:spcPts val="9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 История запросов у каждого сотрудника своя: можно вернуться к прошлому поиску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  <a:latin typeface="Calibri"/>
              </a:rPr>
              <a:t>АССИСТЕНТ-ИССЛЕДОВАТЕЛЬ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Calibri"/>
              </a:rPr>
              <a:t>Вопрос архиву — ответ со ссылками на дела</a:t>
            </a:r>
          </a:p>
        </p:txBody>
      </p:sp>
      <p:pic>
        <p:nvPicPr>
          <p:cNvPr id="4" name="Picture 3" descr="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309360" cy="37051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874519"/>
            <a:ext cx="42976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900"/>
              </a:spcAft>
            </a:pPr>
            <a:r>
              <a:rPr sz="1450">
                <a:solidFill>
                  <a:srgbClr val="E2E8F0"/>
                </a:solidFill>
                <a:latin typeface="Calibri"/>
              </a:rPr>
              <a:t>•  Обычный вопрос вместо запроса: «Кто и кому писал о юбилейных мероприятиях?»</a:t>
            </a:r>
          </a:p>
          <a:p>
            <a:pPr>
              <a:lnSpc>
                <a:spcPts val="2100"/>
              </a:lnSpc>
              <a:spcAft>
                <a:spcPts val="900"/>
              </a:spcAft>
            </a:pPr>
            <a:r>
              <a:rPr sz="1450">
                <a:solidFill>
                  <a:srgbClr val="E2E8F0"/>
                </a:solidFill>
                <a:latin typeface="Calibri"/>
              </a:rPr>
              <a:t>•  Ответ составляется только по вашим документам — каждая мысль подкреплена ссылкой</a:t>
            </a:r>
          </a:p>
          <a:p>
            <a:pPr>
              <a:lnSpc>
                <a:spcPts val="2100"/>
              </a:lnSpc>
              <a:spcAft>
                <a:spcPts val="900"/>
              </a:spcAft>
            </a:pPr>
            <a:r>
              <a:rPr sz="1450">
                <a:solidFill>
                  <a:srgbClr val="E2E8F0"/>
                </a:solidFill>
                <a:latin typeface="Calibri"/>
              </a:rPr>
              <a:t>•  Клик по ссылке открывает документ-первоисточник</a:t>
            </a:r>
          </a:p>
          <a:p>
            <a:pPr>
              <a:lnSpc>
                <a:spcPts val="2100"/>
              </a:lnSpc>
              <a:spcAft>
                <a:spcPts val="900"/>
              </a:spcAft>
            </a:pPr>
            <a:r>
              <a:rPr sz="1450">
                <a:solidFill>
                  <a:srgbClr val="E2E8F0"/>
                </a:solidFill>
                <a:latin typeface="Calibri"/>
              </a:rPr>
              <a:t>•  Если ответа в фонде нет, ассистент прямо об этом говорит и не выдумывает</a:t>
            </a:r>
          </a:p>
          <a:p>
            <a:pPr>
              <a:lnSpc>
                <a:spcPts val="2100"/>
              </a:lnSpc>
              <a:spcAft>
                <a:spcPts val="900"/>
              </a:spcAft>
            </a:pPr>
            <a:r>
              <a:rPr sz="1450">
                <a:solidFill>
                  <a:srgbClr val="E2E8F0"/>
                </a:solidFill>
                <a:latin typeface="Calibri"/>
              </a:rPr>
              <a:t>•  Диалог помнит контекст: вопрос можно уточнять дальше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5623560"/>
            <a:ext cx="4297680" cy="731520"/>
          </a:xfrm>
          <a:prstGeom prst="roundRect">
            <a:avLst>
              <a:gd name="adj" fmla="val 6000"/>
            </a:avLst>
          </a:prstGeom>
          <a:solidFill>
            <a:srgbClr val="1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543800" y="5760720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1" i="0">
                <a:solidFill>
                  <a:srgbClr val="F97316"/>
                </a:solidFill>
                <a:latin typeface="Calibri"/>
              </a:rPr>
              <a:t>У показанной ранее системы этого нет:</a:t>
            </a:r>
          </a:p>
          <a:p>
            <a:pPr algn="l">
              <a:lnSpc>
                <a:spcPts val="1500"/>
              </a:lnSpc>
            </a:pPr>
            <a:r>
              <a:rPr sz="1150" b="1" i="0">
                <a:solidFill>
                  <a:srgbClr val="F97316"/>
                </a:solidFill>
                <a:latin typeface="Calibri"/>
              </a:rPr>
              <a:t>её поиск возвращает только список документов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  <a:latin typeface="Calibri"/>
              </a:rPr>
              <a:t>АГЕНТ · ФЛАГМАН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Calibri"/>
              </a:rPr>
              <a:t>Настройка системы обычными словами</a:t>
            </a:r>
          </a:p>
        </p:txBody>
      </p:sp>
      <p:pic>
        <p:nvPicPr>
          <p:cNvPr id="4" name="Picture 3" descr="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400800" cy="59345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640" y="182880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Скажите — и система перестроится: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2240280"/>
            <a:ext cx="4206240" cy="566928"/>
          </a:xfrm>
          <a:prstGeom prst="roundRect">
            <a:avLst>
              <a:gd name="adj" fmla="val 6000"/>
            </a:avLst>
          </a:prstGeom>
          <a:solidFill>
            <a:srgbClr val="1B2B45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571231" y="2322576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100" b="0" i="0">
                <a:solidFill>
                  <a:srgbClr val="CBD5E1"/>
                </a:solidFill>
                <a:latin typeface="Calibri"/>
              </a:rPr>
              <a:t>«Добавь тип документа „протокол“</a:t>
            </a:r>
          </a:p>
          <a:p>
            <a:pPr algn="l">
              <a:lnSpc>
                <a:spcPts val="1300"/>
              </a:lnSpc>
            </a:pPr>
            <a:r>
              <a:rPr sz="1100" b="0" i="0">
                <a:solidFill>
                  <a:srgbClr val="CBD5E1"/>
                </a:solidFill>
                <a:latin typeface="Calibri"/>
              </a:rPr>
              <a:t>и переклассифицируй архив»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2926080"/>
            <a:ext cx="4206240" cy="566928"/>
          </a:xfrm>
          <a:prstGeom prst="roundRect">
            <a:avLst>
              <a:gd name="adj" fmla="val 6000"/>
            </a:avLst>
          </a:prstGeom>
          <a:solidFill>
            <a:srgbClr val="1B2B45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571231" y="3008376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100" b="0" i="0">
                <a:solidFill>
                  <a:srgbClr val="CBD5E1"/>
                </a:solidFill>
                <a:latin typeface="Calibri"/>
              </a:rPr>
              <a:t>«Добавь виджет: динамика приказов по годам»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3611880"/>
            <a:ext cx="4206240" cy="566928"/>
          </a:xfrm>
          <a:prstGeom prst="roundRect">
            <a:avLst>
              <a:gd name="adj" fmla="val 6000"/>
            </a:avLst>
          </a:prstGeom>
          <a:solidFill>
            <a:srgbClr val="1B2B45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571231" y="3694176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100" b="0" i="0">
                <a:solidFill>
                  <a:srgbClr val="CBD5E1"/>
                </a:solidFill>
                <a:latin typeface="Calibri"/>
              </a:rPr>
              <a:t>«Сделай поиск более смысловым»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4297680"/>
            <a:ext cx="4206240" cy="566928"/>
          </a:xfrm>
          <a:prstGeom prst="roundRect">
            <a:avLst>
              <a:gd name="adj" fmla="val 6000"/>
            </a:avLst>
          </a:prstGeom>
          <a:solidFill>
            <a:srgbClr val="1B2B45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571231" y="4379976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100" b="0" i="0">
                <a:solidFill>
                  <a:srgbClr val="CBD5E1"/>
                </a:solidFill>
                <a:latin typeface="Calibri"/>
              </a:rPr>
              <a:t>«Слей дубликаты персоналий»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5029200"/>
            <a:ext cx="4206240" cy="1280160"/>
          </a:xfrm>
          <a:prstGeom prst="roundRect">
            <a:avLst>
              <a:gd name="adj" fmla="val 6000"/>
            </a:avLst>
          </a:prstGeom>
          <a:solidFill>
            <a:srgbClr val="1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5240" y="5138928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alibri"/>
              </a:rPr>
              <a:t>Безопасно по построению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5440680"/>
            <a:ext cx="37490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0" i="0">
                <a:solidFill>
                  <a:srgbClr val="CBD5E1"/>
                </a:solidFill>
                <a:latin typeface="Calibri"/>
              </a:rPr>
              <a:t>Модель не имеет доступа к базе: она лишь предлагает изменение. База проверяет его по правилам, применяет и записывает в журнал. Любую настройку можно откатить одной кнопкой.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  <a:latin typeface="Calibri"/>
              </a:rPr>
              <a:t>СУЩНОСТИ И СВЯЗИ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0F172A"/>
                </a:solidFill>
                <a:latin typeface="Calibri"/>
              </a:rPr>
              <a:t>Люди, организации и места — связаны между делами</a:t>
            </a:r>
          </a:p>
        </p:txBody>
      </p:sp>
      <p:pic>
        <p:nvPicPr>
          <p:cNvPr id="4" name="Picture 3" descr="ent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6949440" cy="44087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874519"/>
            <a:ext cx="38404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9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 Одна персона — одна карточка: разные написания фамилии сводятся автоматически, старые сохраняются как псевдонимы</a:t>
            </a:r>
          </a:p>
          <a:p>
            <a:pPr>
              <a:lnSpc>
                <a:spcPts val="2100"/>
              </a:lnSpc>
              <a:spcAft>
                <a:spcPts val="9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 Граф показывает, кто встречается в одних и тех же делах — связи, которые вручную не увидеть</a:t>
            </a:r>
          </a:p>
          <a:p>
            <a:pPr>
              <a:lnSpc>
                <a:spcPts val="2100"/>
              </a:lnSpc>
              <a:spcAft>
                <a:spcPts val="9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 От сущности — переход ко всем её документам</a:t>
            </a:r>
          </a:p>
          <a:p>
            <a:pPr>
              <a:lnSpc>
                <a:spcPts val="2100"/>
              </a:lnSpc>
              <a:spcAft>
                <a:spcPts val="9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 Выгрузка списка сущностей в CSV для отчётов и описей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  <a:latin typeface="Calibri"/>
              </a:rPr>
              <a:t>АНАЛИТИКА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0F172A"/>
                </a:solidFill>
                <a:latin typeface="Calibri"/>
              </a:rPr>
              <a:t>Состояние фонда — и состояние хранилища</a:t>
            </a:r>
          </a:p>
        </p:txBody>
      </p:sp>
      <p:pic>
        <p:nvPicPr>
          <p:cNvPr id="4" name="Picture 3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7589520" cy="42098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66760" y="1874519"/>
            <a:ext cx="33375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800"/>
              </a:lnSpc>
              <a:spcAft>
                <a:spcPts val="900"/>
              </a:spcAft>
            </a:pPr>
            <a:r>
              <a:rPr sz="1250">
                <a:solidFill>
                  <a:srgbClr val="0F172A"/>
                </a:solidFill>
                <a:latin typeface="Calibri"/>
              </a:rPr>
              <a:t>•  Сколько документов обработано, сколько персоналий и организаций найдено</a:t>
            </a:r>
          </a:p>
          <a:p>
            <a:pPr>
              <a:lnSpc>
                <a:spcPts val="1800"/>
              </a:lnSpc>
              <a:spcAft>
                <a:spcPts val="900"/>
              </a:spcAft>
            </a:pPr>
            <a:r>
              <a:rPr sz="1250">
                <a:solidFill>
                  <a:srgbClr val="0F172A"/>
                </a:solidFill>
                <a:latin typeface="Calibri"/>
              </a:rPr>
              <a:t>•  Распределение по типам, языкам, хронологии фонда</a:t>
            </a:r>
          </a:p>
          <a:p>
            <a:pPr>
              <a:lnSpc>
                <a:spcPts val="1800"/>
              </a:lnSpc>
              <a:spcAft>
                <a:spcPts val="900"/>
              </a:spcAft>
            </a:pPr>
            <a:r>
              <a:rPr sz="1250">
                <a:solidFill>
                  <a:srgbClr val="0F172A"/>
                </a:solidFill>
                <a:latin typeface="Calibri"/>
              </a:rPr>
              <a:t>•  Все цифры считаются из одного источника — они не расходятся между экранами</a:t>
            </a:r>
          </a:p>
          <a:p>
            <a:pPr>
              <a:lnSpc>
                <a:spcPts val="1800"/>
              </a:lnSpc>
              <a:spcAft>
                <a:spcPts val="900"/>
              </a:spcAft>
            </a:pPr>
            <a:r>
              <a:rPr sz="1250">
                <a:solidFill>
                  <a:srgbClr val="0F172A"/>
                </a:solidFill>
                <a:latin typeface="Calibri"/>
              </a:rPr>
              <a:t>•  Датчики хранилища: температура и влажность в реальном времени, с нормами и историей за сутки</a:t>
            </a:r>
          </a:p>
          <a:p>
            <a:pPr>
              <a:lnSpc>
                <a:spcPts val="1800"/>
              </a:lnSpc>
              <a:spcAft>
                <a:spcPts val="900"/>
              </a:spcAft>
            </a:pPr>
            <a:r>
              <a:rPr sz="1250">
                <a:solidFill>
                  <a:srgbClr val="0F172A"/>
                </a:solidFill>
                <a:latin typeface="Calibri"/>
              </a:rPr>
              <a:t>•  Любой ваш датчик шлёт данные на один адрес — виджет появляется сам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  <a:latin typeface="Calibri"/>
              </a:rPr>
              <a:t>УЧЁТ И КОНТРОЛЬ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0F172A"/>
                </a:solidFill>
                <a:latin typeface="Calibri"/>
              </a:rPr>
              <a:t>Кто, что и когда смотрел</a:t>
            </a:r>
          </a:p>
        </p:txBody>
      </p:sp>
      <p:pic>
        <p:nvPicPr>
          <p:cNvPr id="4" name="Picture 3" descr="u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691640"/>
            <a:ext cx="5089317" cy="4617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874519"/>
            <a:ext cx="35204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800"/>
              </a:lnSpc>
              <a:spcAft>
                <a:spcPts val="900"/>
              </a:spcAft>
            </a:pPr>
            <a:r>
              <a:rPr sz="1250">
                <a:solidFill>
                  <a:srgbClr val="0F172A"/>
                </a:solidFill>
                <a:latin typeface="Calibri"/>
              </a:rPr>
              <a:t>•  Каждый вход — с адресом и временем, включая неудачные попытки</a:t>
            </a:r>
          </a:p>
          <a:p>
            <a:pPr>
              <a:lnSpc>
                <a:spcPts val="1800"/>
              </a:lnSpc>
              <a:spcAft>
                <a:spcPts val="900"/>
              </a:spcAft>
            </a:pPr>
            <a:r>
              <a:rPr sz="1250">
                <a:solidFill>
                  <a:srgbClr val="0F172A"/>
                </a:solidFill>
                <a:latin typeface="Calibri"/>
              </a:rPr>
              <a:t>•  Каждый поиск и каждое открытие документа фиксируются</a:t>
            </a:r>
          </a:p>
          <a:p>
            <a:pPr>
              <a:lnSpc>
                <a:spcPts val="1800"/>
              </a:lnSpc>
              <a:spcAft>
                <a:spcPts val="900"/>
              </a:spcAft>
            </a:pPr>
            <a:r>
              <a:rPr sz="1250">
                <a:solidFill>
                  <a:srgbClr val="0F172A"/>
                </a:solidFill>
                <a:latin typeface="Calibri"/>
              </a:rPr>
              <a:t>•  Видно, какие дела востребованы и кто из сотрудников сейчас работает</a:t>
            </a:r>
          </a:p>
          <a:p>
            <a:pPr>
              <a:lnSpc>
                <a:spcPts val="1800"/>
              </a:lnSpc>
              <a:spcAft>
                <a:spcPts val="900"/>
              </a:spcAft>
            </a:pPr>
            <a:r>
              <a:rPr sz="1250">
                <a:solidFill>
                  <a:srgbClr val="0F172A"/>
                </a:solidFill>
                <a:latin typeface="Calibri"/>
              </a:rPr>
              <a:t>•  Права: администратор ведёт справочники, исследователь работает с фондом</a:t>
            </a:r>
          </a:p>
          <a:p>
            <a:pPr>
              <a:lnSpc>
                <a:spcPts val="1800"/>
              </a:lnSpc>
              <a:spcAft>
                <a:spcPts val="900"/>
              </a:spcAft>
            </a:pPr>
            <a:r>
              <a:rPr sz="1250">
                <a:solidFill>
                  <a:srgbClr val="0F172A"/>
                </a:solidFill>
                <a:latin typeface="Calibri"/>
              </a:rPr>
              <a:t>•  Готово к подключению вашей единой авторизации (SSO)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  <a:latin typeface="Calibri"/>
              </a:rPr>
              <a:t>ИНТЕГРАЦИЯ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0F172A"/>
                </a:solidFill>
                <a:latin typeface="Calibri"/>
              </a:rPr>
              <a:t>Системе нужны только ваше хранилище и ваша база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4884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2395728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sz="1700" b="1" i="0">
                <a:solidFill>
                  <a:srgbClr val="0F172A"/>
                </a:solidFill>
                <a:latin typeface="Calibri"/>
              </a:rPr>
              <a:t>Ваше файловое</a:t>
            </a:r>
          </a:p>
          <a:p>
            <a:pPr algn="ctr">
              <a:lnSpc>
                <a:spcPts val="2200"/>
              </a:lnSpc>
            </a:pPr>
            <a:r>
              <a:rPr sz="1700" b="1" i="0">
                <a:solidFill>
                  <a:srgbClr val="0F172A"/>
                </a:solidFill>
                <a:latin typeface="Calibri"/>
              </a:rPr>
              <a:t>хранилище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82112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сканы как есть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14884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617720" y="2395728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ArchivAI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3182112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00"/>
              </a:lnSpc>
            </a:pPr>
            <a:r>
              <a:rPr sz="1200" b="0" i="0">
                <a:solidFill>
                  <a:srgbClr val="CBD5E1"/>
                </a:solidFill>
                <a:latin typeface="Calibri"/>
              </a:rPr>
              <a:t>распознавание, извлечение,</a:t>
            </a:r>
          </a:p>
          <a:p>
            <a:pPr algn="ctr">
              <a:lnSpc>
                <a:spcPts val="1500"/>
              </a:lnSpc>
            </a:pPr>
            <a:r>
              <a:rPr sz="1200" b="0" i="0">
                <a:solidFill>
                  <a:srgbClr val="CBD5E1"/>
                </a:solidFill>
                <a:latin typeface="Calibri"/>
              </a:rPr>
              <a:t>поиск, проверка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214884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19" y="2395728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sz="1700" b="1" i="0">
                <a:solidFill>
                  <a:srgbClr val="0F172A"/>
                </a:solidFill>
                <a:latin typeface="Calibri"/>
              </a:rPr>
              <a:t>Ваша база</a:t>
            </a:r>
          </a:p>
          <a:p>
            <a:pPr algn="ctr">
              <a:lnSpc>
                <a:spcPts val="2200"/>
              </a:lnSpc>
            </a:pPr>
            <a:r>
              <a:rPr sz="1700" b="1" i="0">
                <a:solidFill>
                  <a:srgbClr val="0F172A"/>
                </a:solidFill>
                <a:latin typeface="Calibri"/>
              </a:rPr>
              <a:t>и учётная система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19" y="3182112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структурированные данные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78892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 i="0">
                <a:solidFill>
                  <a:srgbClr val="F97316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78892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 i="0">
                <a:solidFill>
                  <a:srgbClr val="F97316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406908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00"/>
              </a:lnSpc>
            </a:pPr>
            <a:r>
              <a:rPr sz="1050" b="0" i="0">
                <a:solidFill>
                  <a:srgbClr val="64748B"/>
                </a:solidFill>
                <a:latin typeface="Calibri"/>
              </a:rPr>
              <a:t>забор пачками,</a:t>
            </a:r>
          </a:p>
          <a:p>
            <a:pPr algn="ctr">
              <a:lnSpc>
                <a:spcPts val="1300"/>
              </a:lnSpc>
            </a:pPr>
            <a:r>
              <a:rPr sz="1050" b="0" i="0">
                <a:solidFill>
                  <a:srgbClr val="64748B"/>
                </a:solidFill>
                <a:latin typeface="Calibri"/>
              </a:rPr>
              <a:t>каждые 5 минут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406908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00"/>
              </a:lnSpc>
            </a:pPr>
            <a:r>
              <a:rPr sz="1050" b="0" i="0">
                <a:solidFill>
                  <a:srgbClr val="64748B"/>
                </a:solidFill>
                <a:latin typeface="Calibri"/>
              </a:rPr>
              <a:t>выгрузка результатов</a:t>
            </a:r>
          </a:p>
          <a:p>
            <a:pPr algn="ctr">
              <a:lnSpc>
                <a:spcPts val="1300"/>
              </a:lnSpc>
            </a:pPr>
            <a:r>
              <a:rPr sz="1050" b="0" i="0">
                <a:solidFill>
                  <a:srgbClr val="64748B"/>
                </a:solidFill>
                <a:latin typeface="Calibri"/>
              </a:rPr>
              <a:t>с повторами при сбое связи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93776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7240" y="512064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0F172A"/>
                </a:solidFill>
                <a:latin typeface="Calibri"/>
              </a:rPr>
              <a:t>Разворачивание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431536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0">
                <a:solidFill>
                  <a:srgbClr val="64748B"/>
                </a:solidFill>
                <a:latin typeface="Calibri"/>
              </a:rPr>
              <a:t>один сервер у вас: локально или в частном облаке нужной юрисдикции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493776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663440" y="512064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0F172A"/>
                </a:solidFill>
                <a:latin typeface="Calibri"/>
              </a:rPr>
              <a:t>Никаких внешних сервисов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5431536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0">
                <a:solidFill>
                  <a:srgbClr val="64748B"/>
                </a:solidFill>
                <a:latin typeface="Calibri"/>
              </a:rPr>
              <a:t>ни один документ не покидает ваш контур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493776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549640" y="512064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0F172A"/>
                </a:solidFill>
                <a:latin typeface="Calibri"/>
              </a:rPr>
              <a:t>Совместимость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5431536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0">
                <a:solidFill>
                  <a:srgbClr val="64748B"/>
                </a:solidFill>
                <a:latin typeface="Calibri"/>
              </a:rPr>
              <a:t>работает поверх существующего хранилища и старой учётной системы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  <a:latin typeface="Calibri"/>
              </a:rPr>
              <a:t>КАЧЕСТВО РАСПОЗНАВАНИЯ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0F172A"/>
                </a:solidFill>
                <a:latin typeface="Calibri"/>
              </a:rPr>
              <a:t>Мы не обещаем точность — мы её измеряем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783080"/>
          <a:ext cx="685800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6235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0" i="1">
                <a:solidFill>
                  <a:srgbClr val="64748B"/>
                </a:solidFill>
                <a:latin typeface="Calibri"/>
              </a:rPr>
              <a:t>Доля ошибочных символов на реальном листе фонда (стенограмма 1931 г.); меньше — лучше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1874519"/>
            <a:ext cx="393192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700"/>
              </a:lnSpc>
              <a:spcAft>
                <a:spcPts val="900"/>
              </a:spcAft>
            </a:pPr>
            <a:r>
              <a:rPr sz="1250">
                <a:solidFill>
                  <a:srgbClr val="0F172A"/>
                </a:solidFill>
                <a:latin typeface="Calibri"/>
              </a:rPr>
              <a:t>•  Эталонный набор: страницы вашего фонда с выверенной вручную расшифровкой</a:t>
            </a:r>
          </a:p>
          <a:p>
            <a:pPr>
              <a:lnSpc>
                <a:spcPts val="1700"/>
              </a:lnSpc>
              <a:spcAft>
                <a:spcPts val="900"/>
              </a:spcAft>
            </a:pPr>
            <a:r>
              <a:rPr sz="1250">
                <a:solidFill>
                  <a:srgbClr val="0F172A"/>
                </a:solidFill>
                <a:latin typeface="Calibri"/>
              </a:rPr>
              <a:t>•  Настройка принимается, только если ошибка уменьшилась — не «на глаз»</a:t>
            </a:r>
          </a:p>
          <a:p>
            <a:pPr>
              <a:lnSpc>
                <a:spcPts val="1700"/>
              </a:lnSpc>
              <a:spcAft>
                <a:spcPts val="900"/>
              </a:spcAft>
            </a:pPr>
            <a:r>
              <a:rPr sz="1250">
                <a:solidFill>
                  <a:srgbClr val="0F172A"/>
                </a:solidFill>
                <a:latin typeface="Calibri"/>
              </a:rPr>
              <a:t>•  Сделано: подавление цветных правок и печатей, выравнивание перекоса, словарь эпохи, отсев ложных букв</a:t>
            </a:r>
          </a:p>
          <a:p>
            <a:pPr>
              <a:lnSpc>
                <a:spcPts val="1700"/>
              </a:lnSpc>
              <a:spcAft>
                <a:spcPts val="900"/>
              </a:spcAft>
            </a:pPr>
            <a:r>
              <a:rPr sz="1250">
                <a:solidFill>
                  <a:srgbClr val="0F172A"/>
                </a:solidFill>
                <a:latin typeface="Calibri"/>
              </a:rPr>
              <a:t>•  −36% ошибок на этом листе за один вечер работы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4892040"/>
            <a:ext cx="3931920" cy="141732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909560" y="505663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9A3412"/>
                </a:solidFill>
                <a:latin typeface="Calibri"/>
              </a:rPr>
              <a:t>Что даст дальнейший рост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5376672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0">
                <a:solidFill>
                  <a:srgbClr val="9A3412"/>
                </a:solidFill>
                <a:latin typeface="Calibri"/>
              </a:rPr>
              <a:t>Качественный скан 300 dpi вместо фотографии и видеокарта на сервере: под них у системы уже есть готовый режим работы.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  <a:latin typeface="Calibri"/>
              </a:rPr>
              <a:t>СРАВНЕНИЕ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0F172A"/>
                </a:solidFill>
                <a:latin typeface="Calibri"/>
              </a:rPr>
              <a:t>Что вы получаете сверх показанного ранее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Calibri"/>
              </a:rPr>
              <a:t>Возможность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78308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  <a:latin typeface="Calibri"/>
              </a:rPr>
              <a:t>Показанная ранее система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1783080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97316"/>
                </a:solidFill>
                <a:latin typeface="Calibri"/>
              </a:rPr>
              <a:t>ArchivAI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85416"/>
            <a:ext cx="11064240" cy="539496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Ассистент с ответами по фонду и ссылками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28600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нет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228600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  <a:latin typeface="Calibri"/>
              </a:rPr>
              <a:t>работает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62072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Настройка обычными словами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862072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обещано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2862072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  <a:latin typeface="Calibri"/>
              </a:rPr>
              <a:t>работает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37560"/>
            <a:ext cx="11064240" cy="539496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85800" y="3438144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Своды персоналий без дублей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438144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дубли остаются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438144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  <a:latin typeface="Calibri"/>
              </a:rPr>
              <a:t>сводятся автоматически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014215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Цифры на дашборде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014215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расходятся между экранами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4014215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  <a:latin typeface="Calibri"/>
              </a:rPr>
              <a:t>один источник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489704"/>
            <a:ext cx="11064240" cy="539496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5800" y="4590288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Происхождение и уверенность данных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590288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нет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4590288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  <a:latin typeface="Calibri"/>
              </a:rPr>
              <a:t>по каждому документу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166359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Измеримое качество распознавания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166359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не показано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5166359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  <a:latin typeface="Calibri"/>
              </a:rPr>
              <a:t>эталон и метрика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641848"/>
            <a:ext cx="11064240" cy="539496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Модели и код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742432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закрытые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5742432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  <a:latin typeface="Calibri"/>
              </a:rPr>
              <a:t>открытые, заменяемые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  <a:latin typeface="Calibri"/>
              </a:rPr>
              <a:t>ТЕХНОЛОГИЧЕСКАЯ ОСНОВА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0F172A"/>
                </a:solidFill>
                <a:latin typeface="Calibri"/>
              </a:rPr>
              <a:t>Открытая, проверяемая, ваша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22959" y="2075688"/>
            <a:ext cx="502920" cy="502920"/>
          </a:xfrm>
          <a:prstGeom prst="ellipse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10312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Открытые модели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496312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Распознавание и извлечение — на свободных моделях. Никаких подписок и лимитов, никакой передачи документов наружу.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8308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537959" y="2075688"/>
            <a:ext cx="502920" cy="502920"/>
          </a:xfrm>
          <a:prstGeom prst="ellipse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59" y="210312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Прозрачный конвейер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59" y="2496312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Каждый этап — видимый процесс, который можно посмотреть, повторить и изменить под ваш регламент.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8620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22959" y="4178808"/>
            <a:ext cx="502920" cy="502920"/>
          </a:xfrm>
          <a:prstGeom prst="ellipse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20624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Надёжное хранение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599432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Документы, тексты, сущности и поисковый индекс — в одной базе. Резервные копии — вашими стандартными средствами.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88620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537959" y="4178808"/>
            <a:ext cx="502920" cy="502920"/>
          </a:xfrm>
          <a:prstGeom prst="ellipse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59" y="420624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Рост под нагрузку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59" y="4599432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На сервере с видеокартой точность и скорость растут без изменения системы: меняется только модель.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F1B2D"/>
                </a:solidFill>
                <a:latin typeface="Calibri"/>
              </a:rPr>
              <a:t>Разворачивание: на вашем сервере, в вашей сети, с вашими правилами доступа.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  <a:latin typeface="Calibri"/>
              </a:rPr>
              <a:t>СЛЕДУЮЩИЕ ШАГИ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Calibri"/>
              </a:rPr>
              <a:t>Как начинаем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011680" cy="566928"/>
          </a:xfrm>
          <a:prstGeom prst="roundRect">
            <a:avLst>
              <a:gd name="adj" fmla="val 6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1–2 недели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847088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Пилот на вашем фонде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2258568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250" b="0" i="0">
                <a:solidFill>
                  <a:srgbClr val="94A3B8"/>
                </a:solidFill>
                <a:latin typeface="Calibri"/>
              </a:rPr>
              <a:t>Берём 200–500 сканов, настраиваем справочник типов под ваши регламенты, показываем результат на ваших документах.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46120"/>
            <a:ext cx="2011680" cy="566928"/>
          </a:xfrm>
          <a:prstGeom prst="roundRect">
            <a:avLst>
              <a:gd name="adj" fmla="val 6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3383279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3–4 недели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3264408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Внедрение в контуре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675887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250" b="0" i="0">
                <a:solidFill>
                  <a:srgbClr val="94A3B8"/>
                </a:solidFill>
                <a:latin typeface="Calibri"/>
              </a:rPr>
              <a:t>Установка на ваш сервер, подключение хранилища и учётной системы, единая авторизация, обучение сотрудников.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63440"/>
            <a:ext cx="2011680" cy="566928"/>
          </a:xfrm>
          <a:prstGeom prst="roundRect">
            <a:avLst>
              <a:gd name="adj" fmla="val 6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48640" y="480060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дальше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4681727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Развитие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5093207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250" b="0" i="0">
                <a:solidFill>
                  <a:srgbClr val="94A3B8"/>
                </a:solidFill>
                <a:latin typeface="Calibri"/>
              </a:rPr>
              <a:t>Дообучение на ваших проверенных документах, вырезка подписей и печатей, датчики хранилища, отчётность под ваши формы.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97316"/>
                </a:solidFill>
                <a:latin typeface="Calibri"/>
              </a:rPr>
              <a:t>Система уже работает: сегодня мы показываем не прототип, а готовый контур.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